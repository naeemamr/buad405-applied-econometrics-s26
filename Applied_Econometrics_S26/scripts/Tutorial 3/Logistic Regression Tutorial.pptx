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slides supplement the R tutorial. Concepts are simple; jargon is intentional so students get used to it. One worked example runs through the whole deck.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Anchor everything to one firm and one dataset. Stress class imbalance early — it foreshadows the threshold discussion.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named failures: out-of-range predictions and heteroskedasticity. Both motivate the logit link on the next slide.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equivalent views: linear log-odds, or the squashing S-curve. Emphasise the link function is what guarantees valid probabilities.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estimated equation once; the next four slides unpack each reading. Keep colour coding of Leverage/ROA consistent throughout.</a:t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d06eb7a7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6d06eb7a7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6d06eb7a7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messages: what it compares (full vs null log-likelihood) and the calibration trap. 0.28 is genuinely strong here.</a:t>
            </a:r>
            <a:endParaRPr/>
          </a:p>
        </p:txBody>
      </p:sp>
      <p:sp>
        <p:nvSpPr>
          <p:cNvPr id="197" name="Google Shape;1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Separate fit from discrimination. AUC = probability a random positive outranks a random negative. Independent of threshold — bridges to Module 5.</a:t>
            </a:r>
            <a:endParaRPr/>
          </a:p>
        </p:txBody>
      </p:sp>
      <p:sp>
        <p:nvSpPr>
          <p:cNvPr id="228" name="Google Shape;2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TP/FP/FN/TN and immediately load them with asymmetric cost. FN = losing principal; FP = losing interest. Sets up why 0.50 is wrong.</a:t>
            </a:r>
            <a:endParaRPr/>
          </a:p>
        </p:txBody>
      </p:sp>
      <p:sp>
        <p:nvSpPr>
          <p:cNvPr id="288" name="Google Shape;2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Correct causal language immediately in briefings. Give students a verb swap-list. Observational data -&gt; association and prediction, never causation.</a:t>
            </a:r>
            <a:endParaRPr/>
          </a:p>
        </p:txBody>
      </p:sp>
      <p:sp>
        <p:nvSpPr>
          <p:cNvPr id="324" name="Google Shape;324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3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61400" cy="685800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827602" y="-813977"/>
            <a:ext cx="6858000" cy="6858000"/>
          </a:xfrm>
          <a:prstGeom prst="ellipse">
            <a:avLst/>
          </a:prstGeom>
          <a:solidFill>
            <a:srgbClr val="1B3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70495" y="1786175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SUPPLEMENTARY STUDY SLIDES  ·  BUAD 405 APPLIED ECONOMETRICS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2028072"/>
            <a:ext cx="1051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Logistic Regression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28803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i="1" lang="en-US" sz="3000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Polish Companies Bankruptcy Case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547096" y="312492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Predicting corporate bankruptcy from financial ratios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678751" y="-56027"/>
            <a:ext cx="5400600" cy="53421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507345" y="10"/>
            <a:ext cx="4572000" cy="4572000"/>
          </a:xfrm>
          <a:prstGeom prst="ellipse">
            <a:avLst/>
          </a:prstGeom>
          <a:solidFill>
            <a:srgbClr val="E8A3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RUNNING 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One dataset, one firm, all the way through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50" y="1554475"/>
            <a:ext cx="5577900" cy="3764700"/>
          </a:xfrm>
          <a:prstGeom prst="roundRect">
            <a:avLst>
              <a:gd fmla="val 176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68680" y="17830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The Polish Bankruptcy dataset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68680" y="224028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Unit of observation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60811" y="2348972"/>
            <a:ext cx="502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One Polish company (a single firm-year).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68680" y="2848268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91521" y="3049090"/>
            <a:ext cx="502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4year.arff — financial ratios from year 4, predicting bankruptcy within the next two years.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68680" y="3548386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Outcome coding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22232" y="3672433"/>
            <a:ext cx="502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Y = 1 bankrupt · Y = 0 non-bankrupt. Verify this before modelling.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68680" y="4079598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Predictors (of 64)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022232" y="4203645"/>
            <a:ext cx="502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We follow just two teaching ratios: Leverage and Profitability (ROA).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68680" y="4580100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06876" y="4719502"/>
            <a:ext cx="502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Bankruptcy is rare (~5%). This is why accuracy alone will mislead us later.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355075" y="1554475"/>
            <a:ext cx="5257800" cy="1814700"/>
          </a:xfrm>
          <a:prstGeom prst="roundRect">
            <a:avLst>
              <a:gd fmla="val 3830" name="adj"/>
            </a:avLst>
          </a:prstGeom>
          <a:solidFill>
            <a:srgbClr val="12233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629400" y="1828800"/>
            <a:ext cx="685800" cy="6858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629400" y="18288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690821" y="2557902"/>
            <a:ext cx="475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Leverage (liabilities / assets):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Profitability (ROA):  </a:t>
            </a: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−0.04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355080" y="3886200"/>
            <a:ext cx="5257800" cy="233172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552279" y="4176221"/>
            <a:ext cx="466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What these slides add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690475" y="4219177"/>
            <a:ext cx="4663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The R tutorial produces the output. </a:t>
            </a: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These slides tell you how to read it</a:t>
            </a:r>
            <a:r>
              <a:rPr b="0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 — coefficients vs odds vs probabilities, model fit vs discrimination, and choosing a decision threshold that reflects a bank's risk appetite rather than a software default.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378876" y="2026446"/>
            <a:ext cx="411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E8A33C"/>
                </a:solidFill>
                <a:latin typeface="Cambria"/>
                <a:ea typeface="Cambria"/>
                <a:cs typeface="Cambria"/>
                <a:sym typeface="Cambria"/>
              </a:rPr>
              <a:t>Delta Solutions</a:t>
            </a:r>
            <a:endParaRPr b="0" i="0" sz="1800" u="none" cap="none" strike="noStrike">
              <a:solidFill>
                <a:srgbClr val="E8A3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MODULE 2 · PART 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Why not ordinary least squares?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Regressing a 0/1 outcome with OLS gives the Linear Probability Model (LPM). It is easy to fit — and structurally broken for probabilities.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2148840"/>
            <a:ext cx="5349240" cy="397764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68680" y="242316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645920" y="2450592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Predicted probabilities escape [0, 1]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14400" y="3092914"/>
            <a:ext cx="4709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A straight line does not stop at 0 or 1. For a highly-levered firm the LPM can output </a:t>
            </a:r>
            <a:r>
              <a:rPr b="1" i="0" lang="en-US" sz="13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P(bankrupt) = 1.18</a:t>
            </a:r>
            <a:r>
              <a:rPr b="0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; for a very healthy one, </a:t>
            </a:r>
            <a:r>
              <a:rPr b="1" i="0" lang="en-US" sz="13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−0.09</a:t>
            </a:r>
            <a:r>
              <a:rPr b="0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. Negative and above-one “probabilities” are meaningless to a credit officer.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5"/>
          <p:cNvCxnSpPr/>
          <p:nvPr/>
        </p:nvCxnSpPr>
        <p:spPr>
          <a:xfrm>
            <a:off x="1005840" y="5806440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6B7B8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5"/>
          <p:cNvCxnSpPr/>
          <p:nvPr/>
        </p:nvCxnSpPr>
        <p:spPr>
          <a:xfrm>
            <a:off x="1005840" y="4709160"/>
            <a:ext cx="0" cy="1097280"/>
          </a:xfrm>
          <a:prstGeom prst="straightConnector1">
            <a:avLst/>
          </a:prstGeom>
          <a:noFill/>
          <a:ln cap="flat" cmpd="sng" w="12700">
            <a:solidFill>
              <a:srgbClr val="6B7B8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5"/>
          <p:cNvCxnSpPr/>
          <p:nvPr/>
        </p:nvCxnSpPr>
        <p:spPr>
          <a:xfrm flipH="1" rot="10800000">
            <a:off x="1005840" y="4617720"/>
            <a:ext cx="4480560" cy="91440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5"/>
          <p:cNvSpPr/>
          <p:nvPr/>
        </p:nvSpPr>
        <p:spPr>
          <a:xfrm>
            <a:off x="713232" y="566928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13232" y="461772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743200" y="46177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fitted line exits the [0,1] band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080760" y="2148840"/>
            <a:ext cx="5532000" cy="397770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400800" y="2423160"/>
            <a:ext cx="640080" cy="6400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400800" y="2423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178040" y="2450592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Inherent heteroskedasticity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446520" y="3062204"/>
            <a:ext cx="4846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For a binary outcome the error variance equals </a:t>
            </a: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p(1 − p)</a:t>
            </a:r>
            <a:r>
              <a:rPr b="0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, which changes with the predictors. OLS assumes constant variance, so standard errors are wrong and inference is unreliable — before we even reach interpretation.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446520" y="4617029"/>
            <a:ext cx="4800600" cy="1234500"/>
          </a:xfrm>
          <a:prstGeom prst="roundRect">
            <a:avLst>
              <a:gd fmla="val 6667" name="adj"/>
            </a:avLst>
          </a:prstGeom>
          <a:solidFill>
            <a:srgbClr val="F4F6F8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675120" y="4738488"/>
            <a:ext cx="438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Take-away:  </a:t>
            </a: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we need a model whose fitted values are guaranteed to be valid probabilities and whose error structure fits a 0/1 world.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33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MODULE 2 · PART 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logit transformation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Model the log-odds as linear. The inverse (logistic) function then squeezes any real number back into a clean probability.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71490" y="2011680"/>
            <a:ext cx="5806500" cy="1874400"/>
          </a:xfrm>
          <a:prstGeom prst="roundRect">
            <a:avLst>
              <a:gd fmla="val 4390" name="adj"/>
            </a:avLst>
          </a:prstGeom>
          <a:solidFill>
            <a:srgbClr val="1B3358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22960" y="2194560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Log-odds (logit) is linear in the predictors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" y="3246120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p = P(bankrupt = 1)</a:t>
            </a:r>
            <a:r>
              <a:rPr b="0" i="0" lang="en-US" sz="12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   ·   the left side ranges over all real numbers, so the right side is free to be linear.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4069080"/>
            <a:ext cx="5806440" cy="2103120"/>
          </a:xfrm>
          <a:prstGeom prst="roundRect">
            <a:avLst>
              <a:gd fmla="val 3913" name="adj"/>
            </a:avLst>
          </a:prstGeom>
          <a:solidFill>
            <a:srgbClr val="1B3358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822960" y="425196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Invert it → a valid probability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22960" y="5166360"/>
            <a:ext cx="5394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7EE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EF6"/>
                </a:solidFill>
                <a:latin typeface="Calibri"/>
                <a:ea typeface="Calibri"/>
                <a:cs typeface="Calibri"/>
                <a:sym typeface="Calibri"/>
              </a:rPr>
              <a:t>Whatever the linear part equals — −40 or +40 — the output is trapped in </a:t>
            </a:r>
            <a:r>
              <a:rPr b="1" i="0" lang="en-US" sz="12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(0, 1)</a:t>
            </a:r>
            <a:r>
              <a:rPr b="0" i="0" lang="en-US" sz="1250" u="none" cap="none" strike="noStrike">
                <a:solidFill>
                  <a:srgbClr val="E7EEF6"/>
                </a:solidFill>
                <a:latin typeface="Calibri"/>
                <a:ea typeface="Calibri"/>
                <a:cs typeface="Calibri"/>
                <a:sym typeface="Calibri"/>
              </a:rPr>
              <a:t>. No impossible probabilities. Problem from the last slide: solved.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583680" y="2011680"/>
            <a:ext cx="5029200" cy="4160520"/>
          </a:xfrm>
          <a:prstGeom prst="roundRect">
            <a:avLst>
              <a:gd fmla="val 1978" name="adj"/>
            </a:avLst>
          </a:prstGeom>
          <a:solidFill>
            <a:srgbClr val="1B3358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858000" y="2194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logistic S-curve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7223760" y="5806440"/>
            <a:ext cx="3931920" cy="0"/>
          </a:xfrm>
          <a:prstGeom prst="straightConnector1">
            <a:avLst/>
          </a:prstGeom>
          <a:noFill/>
          <a:ln cap="flat" cmpd="sng" w="15875">
            <a:solidFill>
              <a:srgbClr val="5B7A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6"/>
          <p:cNvCxnSpPr/>
          <p:nvPr/>
        </p:nvCxnSpPr>
        <p:spPr>
          <a:xfrm rot="10800000">
            <a:off x="7223760" y="3017520"/>
            <a:ext cx="0" cy="2788920"/>
          </a:xfrm>
          <a:prstGeom prst="straightConnector1">
            <a:avLst/>
          </a:prstGeom>
          <a:noFill/>
          <a:ln cap="flat" cmpd="sng" w="15875">
            <a:solidFill>
              <a:srgbClr val="5B7A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6"/>
          <p:cNvCxnSpPr/>
          <p:nvPr/>
        </p:nvCxnSpPr>
        <p:spPr>
          <a:xfrm>
            <a:off x="7223760" y="4411980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A557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6" name="Google Shape;96;p6"/>
          <p:cNvCxnSpPr/>
          <p:nvPr/>
        </p:nvCxnSpPr>
        <p:spPr>
          <a:xfrm flipH="1" rot="10800000">
            <a:off x="7223760" y="5797139"/>
            <a:ext cx="98298" cy="2405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6"/>
          <p:cNvCxnSpPr/>
          <p:nvPr/>
        </p:nvCxnSpPr>
        <p:spPr>
          <a:xfrm flipH="1" rot="10800000">
            <a:off x="7322058" y="5793900"/>
            <a:ext cx="98298" cy="3239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6"/>
          <p:cNvCxnSpPr/>
          <p:nvPr/>
        </p:nvCxnSpPr>
        <p:spPr>
          <a:xfrm flipH="1" rot="10800000">
            <a:off x="7420356" y="5789539"/>
            <a:ext cx="98298" cy="4361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6"/>
          <p:cNvCxnSpPr/>
          <p:nvPr/>
        </p:nvCxnSpPr>
        <p:spPr>
          <a:xfrm flipH="1" rot="10800000">
            <a:off x="7518654" y="5783676"/>
            <a:ext cx="98298" cy="5864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6"/>
          <p:cNvCxnSpPr/>
          <p:nvPr/>
        </p:nvCxnSpPr>
        <p:spPr>
          <a:xfrm flipH="1" rot="10800000">
            <a:off x="7616952" y="5775798"/>
            <a:ext cx="98298" cy="7877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6"/>
          <p:cNvCxnSpPr/>
          <p:nvPr/>
        </p:nvCxnSpPr>
        <p:spPr>
          <a:xfrm flipH="1" rot="10800000">
            <a:off x="7715250" y="5765236"/>
            <a:ext cx="98298" cy="10562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6"/>
          <p:cNvCxnSpPr/>
          <p:nvPr/>
        </p:nvCxnSpPr>
        <p:spPr>
          <a:xfrm flipH="1" rot="10800000">
            <a:off x="7813548" y="5751107"/>
            <a:ext cx="98298" cy="14129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6"/>
          <p:cNvCxnSpPr/>
          <p:nvPr/>
        </p:nvCxnSpPr>
        <p:spPr>
          <a:xfrm flipH="1" rot="10800000">
            <a:off x="7911846" y="5732263"/>
            <a:ext cx="98298" cy="18844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6"/>
          <p:cNvCxnSpPr/>
          <p:nvPr/>
        </p:nvCxnSpPr>
        <p:spPr>
          <a:xfrm flipH="1" rot="10800000">
            <a:off x="8010144" y="5707235"/>
            <a:ext cx="98298" cy="25028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6"/>
          <p:cNvCxnSpPr/>
          <p:nvPr/>
        </p:nvCxnSpPr>
        <p:spPr>
          <a:xfrm flipH="1" rot="10800000">
            <a:off x="8108442" y="5674173"/>
            <a:ext cx="98298" cy="33062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6"/>
          <p:cNvCxnSpPr/>
          <p:nvPr/>
        </p:nvCxnSpPr>
        <p:spPr>
          <a:xfrm flipH="1" rot="10800000">
            <a:off x="8206740" y="5630812"/>
            <a:ext cx="98298" cy="43361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6"/>
          <p:cNvCxnSpPr/>
          <p:nvPr/>
        </p:nvCxnSpPr>
        <p:spPr>
          <a:xfrm flipH="1" rot="10800000">
            <a:off x="8305038" y="5574478"/>
            <a:ext cx="98298" cy="56334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6"/>
          <p:cNvCxnSpPr/>
          <p:nvPr/>
        </p:nvCxnSpPr>
        <p:spPr>
          <a:xfrm flipH="1" rot="10800000">
            <a:off x="8403336" y="5502178"/>
            <a:ext cx="98298" cy="72300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6"/>
          <p:cNvCxnSpPr/>
          <p:nvPr/>
        </p:nvCxnSpPr>
        <p:spPr>
          <a:xfrm flipH="1" rot="10800000">
            <a:off x="8501634" y="5410829"/>
            <a:ext cx="98298" cy="91349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6"/>
          <p:cNvCxnSpPr/>
          <p:nvPr/>
        </p:nvCxnSpPr>
        <p:spPr>
          <a:xfrm flipH="1" rot="10800000">
            <a:off x="8599932" y="5297670"/>
            <a:ext cx="98298" cy="113159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6"/>
          <p:cNvCxnSpPr/>
          <p:nvPr/>
        </p:nvCxnSpPr>
        <p:spPr>
          <a:xfrm flipH="1" rot="10800000">
            <a:off x="8698230" y="5160874"/>
            <a:ext cx="98298" cy="136796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6"/>
          <p:cNvCxnSpPr/>
          <p:nvPr/>
        </p:nvCxnSpPr>
        <p:spPr>
          <a:xfrm flipH="1" rot="10800000">
            <a:off x="8796528" y="5000301"/>
            <a:ext cx="98298" cy="160573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6"/>
          <p:cNvCxnSpPr/>
          <p:nvPr/>
        </p:nvCxnSpPr>
        <p:spPr>
          <a:xfrm flipH="1" rot="10800000">
            <a:off x="8894826" y="4818203"/>
            <a:ext cx="98298" cy="182098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6"/>
          <p:cNvCxnSpPr/>
          <p:nvPr/>
        </p:nvCxnSpPr>
        <p:spPr>
          <a:xfrm flipH="1" rot="10800000">
            <a:off x="8993124" y="4619594"/>
            <a:ext cx="98298" cy="198610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6"/>
          <p:cNvCxnSpPr/>
          <p:nvPr/>
        </p:nvCxnSpPr>
        <p:spPr>
          <a:xfrm flipH="1" rot="10800000">
            <a:off x="9091422" y="4411980"/>
            <a:ext cx="98298" cy="207614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6"/>
          <p:cNvCxnSpPr/>
          <p:nvPr/>
        </p:nvCxnSpPr>
        <p:spPr>
          <a:xfrm flipH="1" rot="10800000">
            <a:off x="9189720" y="4204366"/>
            <a:ext cx="98298" cy="207614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6"/>
          <p:cNvCxnSpPr/>
          <p:nvPr/>
        </p:nvCxnSpPr>
        <p:spPr>
          <a:xfrm flipH="1" rot="10800000">
            <a:off x="9288018" y="4005756"/>
            <a:ext cx="98298" cy="198610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6"/>
          <p:cNvCxnSpPr/>
          <p:nvPr/>
        </p:nvCxnSpPr>
        <p:spPr>
          <a:xfrm flipH="1" rot="10800000">
            <a:off x="9386316" y="3823658"/>
            <a:ext cx="98298" cy="182098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6"/>
          <p:cNvCxnSpPr/>
          <p:nvPr/>
        </p:nvCxnSpPr>
        <p:spPr>
          <a:xfrm flipH="1" rot="10800000">
            <a:off x="9484614" y="3663086"/>
            <a:ext cx="98298" cy="160573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6"/>
          <p:cNvCxnSpPr/>
          <p:nvPr/>
        </p:nvCxnSpPr>
        <p:spPr>
          <a:xfrm flipH="1" rot="10800000">
            <a:off x="9582912" y="3526290"/>
            <a:ext cx="98298" cy="136796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6"/>
          <p:cNvCxnSpPr/>
          <p:nvPr/>
        </p:nvCxnSpPr>
        <p:spPr>
          <a:xfrm flipH="1" rot="10800000">
            <a:off x="9681210" y="3413131"/>
            <a:ext cx="98298" cy="113159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6"/>
          <p:cNvCxnSpPr/>
          <p:nvPr/>
        </p:nvCxnSpPr>
        <p:spPr>
          <a:xfrm flipH="1" rot="10800000">
            <a:off x="9779508" y="3321782"/>
            <a:ext cx="98298" cy="91349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6"/>
          <p:cNvCxnSpPr/>
          <p:nvPr/>
        </p:nvCxnSpPr>
        <p:spPr>
          <a:xfrm flipH="1" rot="10800000">
            <a:off x="9877806" y="3249482"/>
            <a:ext cx="98298" cy="72300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6"/>
          <p:cNvCxnSpPr/>
          <p:nvPr/>
        </p:nvCxnSpPr>
        <p:spPr>
          <a:xfrm flipH="1" rot="10800000">
            <a:off x="9976104" y="3193148"/>
            <a:ext cx="98298" cy="56334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6"/>
          <p:cNvCxnSpPr/>
          <p:nvPr/>
        </p:nvCxnSpPr>
        <p:spPr>
          <a:xfrm flipH="1" rot="10800000">
            <a:off x="10074402" y="3149787"/>
            <a:ext cx="98298" cy="43361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6"/>
          <p:cNvCxnSpPr/>
          <p:nvPr/>
        </p:nvCxnSpPr>
        <p:spPr>
          <a:xfrm flipH="1" rot="10800000">
            <a:off x="10172700" y="3116725"/>
            <a:ext cx="98298" cy="33062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6"/>
          <p:cNvCxnSpPr/>
          <p:nvPr/>
        </p:nvCxnSpPr>
        <p:spPr>
          <a:xfrm flipH="1" rot="10800000">
            <a:off x="10270998" y="3091697"/>
            <a:ext cx="98298" cy="25028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6"/>
          <p:cNvCxnSpPr/>
          <p:nvPr/>
        </p:nvCxnSpPr>
        <p:spPr>
          <a:xfrm flipH="1" rot="10800000">
            <a:off x="10369296" y="3072853"/>
            <a:ext cx="98298" cy="18844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6"/>
          <p:cNvCxnSpPr/>
          <p:nvPr/>
        </p:nvCxnSpPr>
        <p:spPr>
          <a:xfrm flipH="1" rot="10800000">
            <a:off x="10467594" y="3058724"/>
            <a:ext cx="98298" cy="14129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6"/>
          <p:cNvCxnSpPr/>
          <p:nvPr/>
        </p:nvCxnSpPr>
        <p:spPr>
          <a:xfrm flipH="1" rot="10800000">
            <a:off x="10565892" y="3048162"/>
            <a:ext cx="98298" cy="10562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6"/>
          <p:cNvCxnSpPr/>
          <p:nvPr/>
        </p:nvCxnSpPr>
        <p:spPr>
          <a:xfrm flipH="1" rot="10800000">
            <a:off x="10664190" y="3040285"/>
            <a:ext cx="98298" cy="7877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6"/>
          <p:cNvCxnSpPr/>
          <p:nvPr/>
        </p:nvCxnSpPr>
        <p:spPr>
          <a:xfrm flipH="1" rot="10800000">
            <a:off x="10762488" y="3034421"/>
            <a:ext cx="98298" cy="5864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6"/>
          <p:cNvCxnSpPr/>
          <p:nvPr/>
        </p:nvCxnSpPr>
        <p:spPr>
          <a:xfrm flipH="1" rot="10800000">
            <a:off x="10860786" y="3030059"/>
            <a:ext cx="98298" cy="4361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6"/>
          <p:cNvCxnSpPr/>
          <p:nvPr/>
        </p:nvCxnSpPr>
        <p:spPr>
          <a:xfrm flipH="1" rot="10800000">
            <a:off x="10959084" y="3026821"/>
            <a:ext cx="98298" cy="3239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6"/>
          <p:cNvCxnSpPr/>
          <p:nvPr/>
        </p:nvCxnSpPr>
        <p:spPr>
          <a:xfrm flipH="1" rot="10800000">
            <a:off x="11057382" y="3024416"/>
            <a:ext cx="98298" cy="2405"/>
          </a:xfrm>
          <a:prstGeom prst="straightConnector1">
            <a:avLst/>
          </a:prstGeom>
          <a:noFill/>
          <a:ln cap="flat" cmpd="sng" w="381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6"/>
          <p:cNvSpPr/>
          <p:nvPr/>
        </p:nvSpPr>
        <p:spPr>
          <a:xfrm>
            <a:off x="6931152" y="2971800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931152" y="569671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812280" y="4302252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A99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223760" y="589788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β₀ + βX  (log-odds) 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 rot="-5400000">
            <a:off x="6355080" y="3108960"/>
            <a:ext cx="914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P(bankrupt)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400" y="2551631"/>
            <a:ext cx="5029199" cy="748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 title="Screenshot 2026-08-11 at 5.51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375" y="4652217"/>
            <a:ext cx="2954191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One equation we will read three 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8640" y="1508760"/>
            <a:ext cx="11064240" cy="1600200"/>
          </a:xfrm>
          <a:prstGeom prst="roundRect">
            <a:avLst>
              <a:gd fmla="val 5143" name="adj"/>
            </a:avLst>
          </a:prstGeom>
          <a:solidFill>
            <a:srgbClr val="12233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68680" y="16916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Estimated logit  (glm, family = binomial)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68680" y="205740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ln( p / (1−p) )  =  </a:t>
            </a:r>
            <a:r>
              <a:rPr b="1" i="0" lang="en-US" sz="22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−2.94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 +  0.34·</a:t>
            </a:r>
            <a:r>
              <a:rPr b="1" i="0" lang="en-US" sz="22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Leverage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 −  0.36·</a:t>
            </a:r>
            <a:r>
              <a:rPr b="1" i="0" lang="en-US" sz="2200" u="none" cap="none" strike="noStrike">
                <a:solidFill>
                  <a:srgbClr val="2E8B6F"/>
                </a:solidFill>
                <a:latin typeface="Cambria"/>
                <a:ea typeface="Cambria"/>
                <a:cs typeface="Cambria"/>
                <a:sym typeface="Cambria"/>
              </a:rPr>
              <a:t>ROA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68680" y="2697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FB2C9"/>
                </a:solidFill>
                <a:latin typeface="Calibri"/>
                <a:ea typeface="Calibri"/>
                <a:cs typeface="Calibri"/>
                <a:sym typeface="Calibri"/>
              </a:rPr>
              <a:t>Illustrative coefficients for teaching — your R session produces the real 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48650" y="3383277"/>
            <a:ext cx="3520500" cy="191370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48640" y="3383280"/>
            <a:ext cx="3520440" cy="566928"/>
          </a:xfrm>
          <a:prstGeom prst="roundRect">
            <a:avLst>
              <a:gd fmla="val 14516" name="adj"/>
            </a:avLst>
          </a:prstGeom>
          <a:solidFill>
            <a:srgbClr val="122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40080" y="3383280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04672" y="41148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Direction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04672" y="4004310"/>
            <a:ext cx="30633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Sign of Leverage is +, so more debt → higher log-odds of bankruptcy. Magnitude is not a probability.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270250" y="3383277"/>
            <a:ext cx="3520500" cy="191370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270248" y="3383280"/>
            <a:ext cx="3520440" cy="566928"/>
          </a:xfrm>
          <a:prstGeom prst="roundRect">
            <a:avLst>
              <a:gd fmla="val 14516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526280" y="41148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Multiplies the odds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26280" y="3911706"/>
            <a:ext cx="30633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exp(0.34) = 1.40 → each +1 unit of leverage multiplies the odds of bankruptcy by 1.40.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991850" y="3383277"/>
            <a:ext cx="3520500" cy="191370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7991856" y="3383280"/>
            <a:ext cx="3520440" cy="566928"/>
          </a:xfrm>
          <a:prstGeom prst="roundRect">
            <a:avLst>
              <a:gd fmla="val 14516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8083296" y="3383280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AME  (marginal effect)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8247888" y="41148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Probability, in points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247888" y="4004310"/>
            <a:ext cx="30633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+1 unit of leverage ≈ +2.1 percentage points on P(bankrupt). The number executives want.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7" title="Screenshot 2026-08-11 at 5.57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924" y="2030500"/>
            <a:ext cx="1762500" cy="71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 title="Screenshot 2026-08-11 at 6.13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0700" y="3382284"/>
            <a:ext cx="506962" cy="5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 title="Screenshot 2026-08-11 at 6.16.5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1638" y="3420975"/>
            <a:ext cx="1446225" cy="491525"/>
          </a:xfrm>
          <a:prstGeom prst="rect">
            <a:avLst/>
          </a:prstGeom>
          <a:solidFill>
            <a:srgbClr val="1C7293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548640" y="384048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MODULE 3 · INTERPRETATION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48640" y="62179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Why AME Beats Raw Coefficients &amp; Odds Ratios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14150" y="1638301"/>
            <a:ext cx="3520500" cy="337920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614140" y="1638292"/>
            <a:ext cx="3520500" cy="567000"/>
          </a:xfrm>
          <a:prstGeom prst="roundRect">
            <a:avLst>
              <a:gd fmla="val 14516" name="adj"/>
            </a:avLst>
          </a:prstGeom>
          <a:solidFill>
            <a:srgbClr val="122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05580" y="1638292"/>
            <a:ext cx="3337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870175" y="2443099"/>
            <a:ext cx="30174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i="1" lang="en-US" sz="1500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The Problem:</a:t>
            </a:r>
            <a:endParaRPr i="1" sz="1500">
              <a:solidFill>
                <a:srgbClr val="1223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lang="en-US" sz="1800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Abstract &amp; Non-Linear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10125" y="3215057"/>
            <a:ext cx="33375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Conveys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intuitive sense of scale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 𝛽 does NOT mean a constant effect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probability.</a:t>
            </a:r>
            <a:endParaRPr sz="1500">
              <a:solidFill>
                <a:srgbClr val="1B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335750" y="1638302"/>
            <a:ext cx="3520500" cy="337920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4335748" y="1638292"/>
            <a:ext cx="3520500" cy="567000"/>
          </a:xfrm>
          <a:prstGeom prst="roundRect">
            <a:avLst>
              <a:gd fmla="val 14516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4591775" y="2457722"/>
            <a:ext cx="3017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i="1" lang="en-US" sz="15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Problem: </a:t>
            </a:r>
            <a:endParaRPr i="1" sz="15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8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Odds ≠ Probability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564350" y="3224650"/>
            <a:ext cx="30633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Odds = </a:t>
            </a:r>
            <a:b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 </a:t>
            </a: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40% rise in odds</a:t>
            </a:r>
            <a:b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b="1"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40% rise in probability.</a:t>
            </a:r>
            <a:endParaRPr i="1" sz="1500">
              <a:solidFill>
                <a:srgbClr val="1B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057350" y="1638301"/>
            <a:ext cx="3520500" cy="337920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8057356" y="1638292"/>
            <a:ext cx="3520500" cy="567000"/>
          </a:xfrm>
          <a:prstGeom prst="roundRect">
            <a:avLst>
              <a:gd fmla="val 14516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8148796" y="1638292"/>
            <a:ext cx="3337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AME  (marginal effect)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313400" y="2457753"/>
            <a:ext cx="3017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b="1" i="1" lang="en-US" sz="15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The Solution:</a:t>
            </a:r>
            <a:endParaRPr b="1" i="1" sz="1500">
              <a:solidFill>
                <a:srgbClr val="E8A3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b="1" lang="en-US" sz="18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Clear &amp; Actionable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8" title="Screenshot 2026-08-11 at 6.13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200" y="1637297"/>
            <a:ext cx="506962" cy="5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8" title="Screenshot 2026-08-11 at 6.16.5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7138" y="1675987"/>
            <a:ext cx="1446225" cy="491525"/>
          </a:xfrm>
          <a:prstGeom prst="rect">
            <a:avLst/>
          </a:prstGeom>
          <a:solidFill>
            <a:srgbClr val="1C7293"/>
          </a:solidFill>
          <a:ln>
            <a:noFill/>
          </a:ln>
        </p:spPr>
      </p:pic>
      <p:pic>
        <p:nvPicPr>
          <p:cNvPr id="192" name="Google Shape;192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5980" y="3180704"/>
            <a:ext cx="649744" cy="5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8285956" y="3224661"/>
            <a:ext cx="30633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Stated directly in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percentage points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Requires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mental gymnastics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translation.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MODULE 4 · PART 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Model fit: McFadden's pseudo-R²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48640" y="1554480"/>
            <a:ext cx="5486400" cy="2011680"/>
          </a:xfrm>
          <a:prstGeom prst="roundRect">
            <a:avLst>
              <a:gd fmla="val 4091" name="adj"/>
            </a:avLst>
          </a:prstGeom>
          <a:solidFill>
            <a:srgbClr val="12233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822960" y="17373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22960" y="269748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Compares your model's log-likelihood against an intercept-only (null) model.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126480" y="1554480"/>
            <a:ext cx="5486400" cy="2011680"/>
          </a:xfrm>
          <a:prstGeom prst="roundRect">
            <a:avLst>
              <a:gd fmla="val 409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6400800" y="17373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Our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400800" y="196596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0.28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549640" y="214884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B8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B7B8C"/>
                </a:solidFill>
                <a:latin typeface="Courier New"/>
                <a:ea typeface="Courier New"/>
                <a:cs typeface="Courier New"/>
                <a:sym typeface="Courier New"/>
              </a:rPr>
              <a:t>= 1 − (−540 / −750)</a:t>
            </a:r>
            <a:br>
              <a:rPr b="0" i="0" lang="en-US" sz="1300" u="none" cap="none" strike="noStrike">
                <a:solidFill>
                  <a:srgbClr val="6B7B8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300" u="none" cap="none" strike="noStrike">
                <a:solidFill>
                  <a:srgbClr val="2E8B6F"/>
                </a:solidFill>
                <a:latin typeface="Calibri"/>
                <a:ea typeface="Calibri"/>
                <a:cs typeface="Calibri"/>
                <a:sym typeface="Calibri"/>
              </a:rPr>
              <a:t>Excellent fit in the logit world.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48640" y="3703320"/>
            <a:ext cx="5486400" cy="2468880"/>
          </a:xfrm>
          <a:prstGeom prst="roundRect">
            <a:avLst>
              <a:gd fmla="val 3333" name="adj"/>
            </a:avLst>
          </a:prstGeom>
          <a:solidFill>
            <a:srgbClr val="FBEEE9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822960" y="3931920"/>
            <a:ext cx="567000" cy="567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822960" y="393192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450145" y="4038131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Take Care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22950" y="4572000"/>
            <a:ext cx="5029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Never read McFadden's R² as “percent of variance explained.”  </a:t>
            </a:r>
            <a:r>
              <a:rPr b="0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It is not an OLS R². Its scale is compressed — values that look small are actually strong.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126480" y="3703320"/>
            <a:ext cx="5486400" cy="2468880"/>
          </a:xfrm>
          <a:prstGeom prst="roundRect">
            <a:avLst>
              <a:gd fmla="val 3333" name="adj"/>
            </a:avLst>
          </a:prstGeom>
          <a:solidFill>
            <a:srgbClr val="12233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6400800" y="38862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Rule-of-thumb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400800" y="4343400"/>
            <a:ext cx="1737360" cy="457200"/>
          </a:xfrm>
          <a:prstGeom prst="roundRect">
            <a:avLst>
              <a:gd fmla="val 12000" name="adj"/>
            </a:avLst>
          </a:prstGeom>
          <a:solidFill>
            <a:srgbClr val="5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6400800" y="43434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 – 0.10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321040" y="4343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weak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400800" y="4910328"/>
            <a:ext cx="1737360" cy="457200"/>
          </a:xfrm>
          <a:prstGeom prst="roundRect">
            <a:avLst>
              <a:gd fmla="val 12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6400800" y="491032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0.10 – 0.20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321040" y="491032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reasonable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400800" y="5477256"/>
            <a:ext cx="1737360" cy="457200"/>
          </a:xfrm>
          <a:prstGeom prst="roundRect">
            <a:avLst>
              <a:gd fmla="val 12000" name="adj"/>
            </a:avLst>
          </a:prstGeom>
          <a:solidFill>
            <a:srgbClr val="2E8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400800" y="5477256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0.20 – 0.40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321040" y="547725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6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8B6F"/>
                </a:solidFill>
                <a:latin typeface="Calibri"/>
                <a:ea typeface="Calibri"/>
                <a:cs typeface="Calibri"/>
                <a:sym typeface="Calibri"/>
              </a:rPr>
              <a:t>excellent  ← us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49" y="2014248"/>
            <a:ext cx="3855106" cy="90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MODULE 4 · PART 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Discrimination: the ROC curve &amp; AUC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Fit tells you how well the model matches the data; discrimination tells you how well it RANKS risky firms above healthy ones — across every possible threshold.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48640" y="2148840"/>
            <a:ext cx="4937760" cy="4023360"/>
          </a:xfrm>
          <a:prstGeom prst="roundRect">
            <a:avLst>
              <a:gd fmla="val 204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822960" y="23317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ROC curve — pROC::roc()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0"/>
          <p:cNvCxnSpPr/>
          <p:nvPr/>
        </p:nvCxnSpPr>
        <p:spPr>
          <a:xfrm>
            <a:off x="1234440" y="5806440"/>
            <a:ext cx="3566160" cy="0"/>
          </a:xfrm>
          <a:prstGeom prst="straightConnector1">
            <a:avLst/>
          </a:prstGeom>
          <a:noFill/>
          <a:ln cap="flat" cmpd="sng" w="15875">
            <a:solidFill>
              <a:srgbClr val="6B7B8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10"/>
          <p:cNvCxnSpPr/>
          <p:nvPr/>
        </p:nvCxnSpPr>
        <p:spPr>
          <a:xfrm rot="10800000">
            <a:off x="1234440" y="2880360"/>
            <a:ext cx="0" cy="2926080"/>
          </a:xfrm>
          <a:prstGeom prst="straightConnector1">
            <a:avLst/>
          </a:prstGeom>
          <a:noFill/>
          <a:ln cap="flat" cmpd="sng" w="15875">
            <a:solidFill>
              <a:srgbClr val="6B7B8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10"/>
          <p:cNvCxnSpPr/>
          <p:nvPr/>
        </p:nvCxnSpPr>
        <p:spPr>
          <a:xfrm flipH="1" rot="10800000">
            <a:off x="1234440" y="2880360"/>
            <a:ext cx="3566160" cy="292608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8" name="Google Shape;238;p10"/>
          <p:cNvCxnSpPr/>
          <p:nvPr/>
        </p:nvCxnSpPr>
        <p:spPr>
          <a:xfrm flipH="1" rot="10800000">
            <a:off x="1234440" y="4821052"/>
            <a:ext cx="118872" cy="985388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10"/>
          <p:cNvCxnSpPr/>
          <p:nvPr/>
        </p:nvCxnSpPr>
        <p:spPr>
          <a:xfrm flipH="1" rot="10800000">
            <a:off x="1353312" y="4576350"/>
            <a:ext cx="118872" cy="244702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10"/>
          <p:cNvCxnSpPr/>
          <p:nvPr/>
        </p:nvCxnSpPr>
        <p:spPr>
          <a:xfrm flipH="1" rot="10800000">
            <a:off x="1472184" y="4405930"/>
            <a:ext cx="118872" cy="170420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10"/>
          <p:cNvCxnSpPr/>
          <p:nvPr/>
        </p:nvCxnSpPr>
        <p:spPr>
          <a:xfrm flipH="1" rot="10800000">
            <a:off x="1591056" y="4270881"/>
            <a:ext cx="118872" cy="135049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0"/>
          <p:cNvCxnSpPr/>
          <p:nvPr/>
        </p:nvCxnSpPr>
        <p:spPr>
          <a:xfrm flipH="1" rot="10800000">
            <a:off x="1709928" y="4157223"/>
            <a:ext cx="118872" cy="113658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10"/>
          <p:cNvCxnSpPr/>
          <p:nvPr/>
        </p:nvCxnSpPr>
        <p:spPr>
          <a:xfrm flipH="1" rot="10800000">
            <a:off x="1828800" y="4058141"/>
            <a:ext cx="118872" cy="99082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10"/>
          <p:cNvCxnSpPr/>
          <p:nvPr/>
        </p:nvCxnSpPr>
        <p:spPr>
          <a:xfrm flipH="1" rot="10800000">
            <a:off x="1947672" y="3969738"/>
            <a:ext cx="118872" cy="88403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10"/>
          <p:cNvCxnSpPr/>
          <p:nvPr/>
        </p:nvCxnSpPr>
        <p:spPr>
          <a:xfrm flipH="1" rot="10800000">
            <a:off x="2066544" y="3889555"/>
            <a:ext cx="118872" cy="80183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10"/>
          <p:cNvCxnSpPr/>
          <p:nvPr/>
        </p:nvCxnSpPr>
        <p:spPr>
          <a:xfrm flipH="1" rot="10800000">
            <a:off x="2185416" y="3815927"/>
            <a:ext cx="118872" cy="73627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10"/>
          <p:cNvCxnSpPr/>
          <p:nvPr/>
        </p:nvCxnSpPr>
        <p:spPr>
          <a:xfrm flipH="1" rot="10800000">
            <a:off x="2304288" y="3747672"/>
            <a:ext cx="118872" cy="68255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10"/>
          <p:cNvCxnSpPr/>
          <p:nvPr/>
        </p:nvCxnSpPr>
        <p:spPr>
          <a:xfrm flipH="1" rot="10800000">
            <a:off x="2423160" y="3683914"/>
            <a:ext cx="118872" cy="63758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10"/>
          <p:cNvCxnSpPr/>
          <p:nvPr/>
        </p:nvCxnSpPr>
        <p:spPr>
          <a:xfrm flipH="1" rot="10800000">
            <a:off x="2542032" y="3623985"/>
            <a:ext cx="118872" cy="59929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10"/>
          <p:cNvCxnSpPr/>
          <p:nvPr/>
        </p:nvCxnSpPr>
        <p:spPr>
          <a:xfrm flipH="1" rot="10800000">
            <a:off x="2660904" y="3567362"/>
            <a:ext cx="118872" cy="56623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10"/>
          <p:cNvCxnSpPr/>
          <p:nvPr/>
        </p:nvCxnSpPr>
        <p:spPr>
          <a:xfrm flipH="1" rot="10800000">
            <a:off x="2779776" y="3513629"/>
            <a:ext cx="118872" cy="53733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10"/>
          <p:cNvCxnSpPr/>
          <p:nvPr/>
        </p:nvCxnSpPr>
        <p:spPr>
          <a:xfrm flipH="1" rot="10800000">
            <a:off x="2898648" y="3462445"/>
            <a:ext cx="118872" cy="51183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10"/>
          <p:cNvCxnSpPr/>
          <p:nvPr/>
        </p:nvCxnSpPr>
        <p:spPr>
          <a:xfrm flipH="1" rot="10800000">
            <a:off x="3017520" y="3413533"/>
            <a:ext cx="118872" cy="48912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10"/>
          <p:cNvCxnSpPr/>
          <p:nvPr/>
        </p:nvCxnSpPr>
        <p:spPr>
          <a:xfrm flipH="1" rot="10800000">
            <a:off x="3136392" y="3366658"/>
            <a:ext cx="118872" cy="46875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10"/>
          <p:cNvCxnSpPr/>
          <p:nvPr/>
        </p:nvCxnSpPr>
        <p:spPr>
          <a:xfrm flipH="1" rot="10800000">
            <a:off x="3255264" y="3321622"/>
            <a:ext cx="118872" cy="45036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10"/>
          <p:cNvCxnSpPr/>
          <p:nvPr/>
        </p:nvCxnSpPr>
        <p:spPr>
          <a:xfrm flipH="1" rot="10800000">
            <a:off x="3374136" y="3278257"/>
            <a:ext cx="118872" cy="43365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10"/>
          <p:cNvCxnSpPr/>
          <p:nvPr/>
        </p:nvCxnSpPr>
        <p:spPr>
          <a:xfrm flipH="1" rot="10800000">
            <a:off x="3493008" y="3236417"/>
            <a:ext cx="118872" cy="41840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10"/>
          <p:cNvCxnSpPr/>
          <p:nvPr/>
        </p:nvCxnSpPr>
        <p:spPr>
          <a:xfrm flipH="1" rot="10800000">
            <a:off x="3611880" y="3195977"/>
            <a:ext cx="118872" cy="40440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10"/>
          <p:cNvCxnSpPr/>
          <p:nvPr/>
        </p:nvCxnSpPr>
        <p:spPr>
          <a:xfrm flipH="1" rot="10800000">
            <a:off x="3730752" y="3156826"/>
            <a:ext cx="118872" cy="39151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0"/>
          <p:cNvCxnSpPr/>
          <p:nvPr/>
        </p:nvCxnSpPr>
        <p:spPr>
          <a:xfrm flipH="1" rot="10800000">
            <a:off x="3849624" y="3118867"/>
            <a:ext cx="118872" cy="37959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0"/>
          <p:cNvCxnSpPr/>
          <p:nvPr/>
        </p:nvCxnSpPr>
        <p:spPr>
          <a:xfrm flipH="1" rot="10800000">
            <a:off x="3968496" y="3082014"/>
            <a:ext cx="118872" cy="36853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10"/>
          <p:cNvCxnSpPr/>
          <p:nvPr/>
        </p:nvCxnSpPr>
        <p:spPr>
          <a:xfrm flipH="1" rot="10800000">
            <a:off x="4087368" y="3046191"/>
            <a:ext cx="118872" cy="35823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10"/>
          <p:cNvCxnSpPr/>
          <p:nvPr/>
        </p:nvCxnSpPr>
        <p:spPr>
          <a:xfrm flipH="1" rot="10800000">
            <a:off x="4206240" y="3011330"/>
            <a:ext cx="118872" cy="34861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10"/>
          <p:cNvCxnSpPr/>
          <p:nvPr/>
        </p:nvCxnSpPr>
        <p:spPr>
          <a:xfrm flipH="1" rot="10800000">
            <a:off x="4325112" y="2977369"/>
            <a:ext cx="118872" cy="33961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10"/>
          <p:cNvCxnSpPr/>
          <p:nvPr/>
        </p:nvCxnSpPr>
        <p:spPr>
          <a:xfrm flipH="1" rot="10800000">
            <a:off x="4443984" y="2944253"/>
            <a:ext cx="118872" cy="33116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10"/>
          <p:cNvCxnSpPr/>
          <p:nvPr/>
        </p:nvCxnSpPr>
        <p:spPr>
          <a:xfrm flipH="1" rot="10800000">
            <a:off x="4562856" y="2911932"/>
            <a:ext cx="118872" cy="32321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0"/>
          <p:cNvCxnSpPr/>
          <p:nvPr/>
        </p:nvCxnSpPr>
        <p:spPr>
          <a:xfrm flipH="1" rot="10800000">
            <a:off x="4681728" y="2880360"/>
            <a:ext cx="118872" cy="31572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0"/>
          <p:cNvSpPr/>
          <p:nvPr/>
        </p:nvSpPr>
        <p:spPr>
          <a:xfrm>
            <a:off x="2194560" y="4160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AUC = 0.82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788920" y="50749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chance = 0.50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 rot="-5400000">
            <a:off x="502920" y="3291840"/>
            <a:ext cx="1097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B8C"/>
                </a:solidFill>
                <a:latin typeface="Calibri"/>
                <a:ea typeface="Calibri"/>
                <a:cs typeface="Calibri"/>
                <a:sym typeface="Calibri"/>
              </a:rPr>
              <a:t>True positive rate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1234440" y="591616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B8C"/>
                </a:solidFill>
                <a:latin typeface="Calibri"/>
                <a:ea typeface="Calibri"/>
                <a:cs typeface="Calibri"/>
                <a:sym typeface="Calibri"/>
              </a:rPr>
              <a:t>False positive rate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669280" y="2148840"/>
            <a:ext cx="5943600" cy="1243584"/>
          </a:xfrm>
          <a:prstGeom prst="roundRect">
            <a:avLst>
              <a:gd fmla="val 661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5897880" y="2359152"/>
            <a:ext cx="1234440" cy="822960"/>
          </a:xfrm>
          <a:prstGeom prst="roundRect">
            <a:avLst>
              <a:gd fmla="val 8889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5897880" y="2359152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0.50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7315200" y="2286000"/>
            <a:ext cx="411480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No better than a coin flip — the model cannot separate bankrupt from solvent firms.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669280" y="3502152"/>
            <a:ext cx="5943600" cy="1243584"/>
          </a:xfrm>
          <a:prstGeom prst="roundRect">
            <a:avLst>
              <a:gd fmla="val 661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5897880" y="3712464"/>
            <a:ext cx="1234440" cy="822960"/>
          </a:xfrm>
          <a:prstGeom prst="roundRect">
            <a:avLst>
              <a:gd fmla="val 8889" name="adj"/>
            </a:avLst>
          </a:prstGeom>
          <a:solidFill>
            <a:srgbClr val="2E8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5897880" y="3712464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0.82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315200" y="3639312"/>
            <a:ext cx="411480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Our model: strong ranking. A random bankrupt firm scores higher than a random solvent firm 82% of the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669280" y="4855464"/>
            <a:ext cx="5943600" cy="1243584"/>
          </a:xfrm>
          <a:prstGeom prst="roundRect">
            <a:avLst>
              <a:gd fmla="val 661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5897880" y="5065776"/>
            <a:ext cx="1234440" cy="822960"/>
          </a:xfrm>
          <a:prstGeom prst="roundRect">
            <a:avLst>
              <a:gd fmla="val 8889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5897880" y="5065776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7315200" y="4992624"/>
            <a:ext cx="411480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Perfect discrimination — every bankrupt firm ranked above every solvent one (unrealistic).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669280" y="619963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B8C"/>
                </a:solidFill>
                <a:latin typeface="Calibri"/>
                <a:ea typeface="Calibri"/>
                <a:cs typeface="Calibri"/>
                <a:sym typeface="Calibri"/>
              </a:rPr>
              <a:t>AUC is threshold-independent — it judges ranking, before any cutoff is chosen.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MODULE 5 · PART 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Asymmetric risk: not all errors cost the same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48640" y="1600200"/>
            <a:ext cx="5577840" cy="3657600"/>
          </a:xfrm>
          <a:prstGeom prst="roundRect">
            <a:avLst>
              <a:gd fmla="val 225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Confusion matrix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1737360" y="203911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Actual bankrupt (1)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3703320" y="203911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Actual solvent (0)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777240" y="2423160"/>
            <a:ext cx="914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Predict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77240" y="3474720"/>
            <a:ext cx="914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Predict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737360" y="2423160"/>
            <a:ext cx="1965960" cy="1051560"/>
          </a:xfrm>
          <a:prstGeom prst="rect">
            <a:avLst/>
          </a:prstGeom>
          <a:solidFill>
            <a:srgbClr val="2E8B6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1737360" y="253288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783080" y="299008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True positive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3703320" y="2423160"/>
            <a:ext cx="1965960" cy="1051560"/>
          </a:xfrm>
          <a:prstGeom prst="rect">
            <a:avLst/>
          </a:prstGeom>
          <a:solidFill>
            <a:srgbClr val="E8A33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3703320" y="253288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3749040" y="299008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False positive · Type 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737360" y="3474720"/>
            <a:ext cx="1965960" cy="1051560"/>
          </a:xfrm>
          <a:prstGeom prst="rect">
            <a:avLst/>
          </a:prstGeom>
          <a:solidFill>
            <a:srgbClr val="C0392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1737360" y="358444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783080" y="404164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False negative · Type II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703320" y="3474720"/>
            <a:ext cx="1965960" cy="1051560"/>
          </a:xfrm>
          <a:prstGeom prst="rect">
            <a:avLst/>
          </a:prstGeom>
          <a:solidFill>
            <a:srgbClr val="1C72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3703320" y="358444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3749040" y="404164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True negative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822960" y="4709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B8C"/>
                </a:solidFill>
                <a:latin typeface="Calibri"/>
                <a:ea typeface="Calibri"/>
                <a:cs typeface="Calibri"/>
                <a:sym typeface="Calibri"/>
              </a:rPr>
              <a:t>Default software cutoff: classify as bankrupt when p ≥ 0.50.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263640" y="1600200"/>
            <a:ext cx="5349240" cy="2148840"/>
          </a:xfrm>
          <a:prstGeom prst="roundRect">
            <a:avLst>
              <a:gd fmla="val 3830" name="adj"/>
            </a:avLst>
          </a:prstGeom>
          <a:solidFill>
            <a:srgbClr val="FEF6EC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6537960" y="1847088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6537960" y="18470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FP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7223760" y="1847088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False positive — small cost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6537960" y="256032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Reject a healthy firm's credit line → lost interest income. Recoverable — you find another borrower.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263640" y="3886200"/>
            <a:ext cx="5349240" cy="2286000"/>
          </a:xfrm>
          <a:prstGeom prst="roundRect">
            <a:avLst>
              <a:gd fmla="val 3600" name="adj"/>
            </a:avLst>
          </a:prstGeom>
          <a:solidFill>
            <a:srgbClr val="FBEEE9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6537960" y="416052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653796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7223760" y="416052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False negative — massive cost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537960" y="4864608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Approve a loan to a firm that then defaults → loss of the entire principal. </a:t>
            </a: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An order of magnitude worse than a false positive.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33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"/>
          <p:cNvSpPr/>
          <p:nvPr/>
        </p:nvSpPr>
        <p:spPr>
          <a:xfrm>
            <a:off x="548640" y="41148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MODULE 6 · PART 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48640" y="658368"/>
            <a:ext cx="1115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Communicate without claiming causation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48640" y="1371600"/>
            <a:ext cx="1115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This is observational credit data, not a randomised experiment. The model finds association and predicts risk — it does not prove that changing a ratio changes the outcome.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548640" y="2194560"/>
            <a:ext cx="5486400" cy="2880300"/>
          </a:xfrm>
          <a:prstGeom prst="roundRect">
            <a:avLst>
              <a:gd fmla="val 2857" name="adj"/>
            </a:avLst>
          </a:prstGeom>
          <a:solidFill>
            <a:srgbClr val="FBEEE9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822960" y="2423160"/>
            <a:ext cx="548700" cy="5487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822960" y="242316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371660" y="2441448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Cambria"/>
              <a:buNone/>
            </a:pPr>
            <a:r>
              <a:rPr b="1" lang="en-US" sz="2000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b="1" i="0" lang="en-US" sz="20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ausal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822960" y="3063240"/>
            <a:ext cx="5029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“Raising leverage causes bankruptcy.”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822960" y="3685032"/>
            <a:ext cx="5029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“Cutting debt will reduce a firm's default risk by 2.1 points.”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822960" y="4306824"/>
            <a:ext cx="5029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“Profitability drives firms out of distress.”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6172200" y="2194560"/>
            <a:ext cx="5440800" cy="2880300"/>
          </a:xfrm>
          <a:prstGeom prst="roundRect">
            <a:avLst>
              <a:gd fmla="val 2857" name="adj"/>
            </a:avLst>
          </a:prstGeom>
          <a:solidFill>
            <a:srgbClr val="EAF3EE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6446520" y="2423160"/>
            <a:ext cx="548700" cy="548700"/>
          </a:xfrm>
          <a:prstGeom prst="ellipse">
            <a:avLst/>
          </a:prstGeom>
          <a:solidFill>
            <a:srgbClr val="2E8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6446520" y="242316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995220" y="2441448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6F"/>
              </a:buClr>
              <a:buSzPts val="1600"/>
              <a:buFont typeface="Cambria"/>
              <a:buNone/>
            </a:pPr>
            <a:r>
              <a:rPr b="1" lang="en-US" sz="2000">
                <a:solidFill>
                  <a:srgbClr val="2E8B6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="1" i="0" lang="en-US" sz="2000" u="none" cap="none" strike="noStrike">
                <a:solidFill>
                  <a:srgbClr val="2E8B6F"/>
                </a:solidFill>
                <a:latin typeface="Cambria"/>
                <a:ea typeface="Cambria"/>
                <a:cs typeface="Cambria"/>
                <a:sym typeface="Cambria"/>
              </a:rPr>
              <a:t>ssociational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6446520" y="3063240"/>
            <a:ext cx="4937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8B6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B6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“Higher leverage is associated with higher predicted risk.”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446520" y="3685032"/>
            <a:ext cx="4937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8B6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B6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“Firms with higher leverage tend to have ~2.1 pts higher probability, holding other ratios fixed.”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6446520" y="4306824"/>
            <a:ext cx="4937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8B6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B6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“Profitability is a strong predictor of lower default risk.”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48640" y="5257800"/>
            <a:ext cx="11064300" cy="914400"/>
          </a:xfrm>
          <a:prstGeom prst="roundRect">
            <a:avLst>
              <a:gd fmla="val 9000" name="adj"/>
            </a:avLst>
          </a:prstGeom>
          <a:solidFill>
            <a:srgbClr val="E8A33D"/>
          </a:solidFill>
          <a:ln>
            <a:noFill/>
          </a:ln>
          <a:effectLst>
            <a:outerShdw blurRad="76200" rotWithShape="0" algn="bl" dir="5400000" dist="25400">
              <a:srgbClr val="9AA7B4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822960" y="5349240"/>
            <a:ext cx="10515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Safe verbs:  </a:t>
            </a:r>
            <a:r>
              <a:rPr b="0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“associated with”, “predicts”, “tends to”, “holding other ratios constant.”   </a:t>
            </a:r>
            <a:r>
              <a:rPr b="1" i="0" lang="en-US" sz="13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Avoid:  </a:t>
            </a:r>
            <a:r>
              <a:rPr b="0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“causes”, “drives”, “leads to”, “because of.”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