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embeddedFontLst>
    <p:embeddedFont>
      <p:font typeface="Roboto Mono"/>
      <p:regular r:id="rId16"/>
      <p:bold r:id="rId17"/>
      <p:italic r:id="rId18"/>
      <p:boldItalic r:id="rId19"/>
    </p:embeddedFont>
    <p:embeddedFont>
      <p:font typeface="Cambria Math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7404CF-81AE-4D31-9FD4-0819B45FE42F}">
  <a:tblStyle styleId="{737404CF-81AE-4D31-9FD4-0819B45FE42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mbriaMath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3F3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B3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Tutorial 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2121849"/>
            <a:ext cx="10515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Factor Analysis &amp; SEM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1D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1D3"/>
                </a:solidFill>
                <a:latin typeface="Calibri"/>
                <a:ea typeface="Calibri"/>
                <a:cs typeface="Calibri"/>
                <a:sym typeface="Calibri"/>
              </a:rPr>
              <a:t>BUAD 405 — Applied Econometrics  |  Summer '26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538854" y="2171430"/>
            <a:ext cx="5337900" cy="5501100"/>
          </a:xfrm>
          <a:prstGeom prst="ellipse">
            <a:avLst/>
          </a:prstGeom>
          <a:solidFill>
            <a:srgbClr val="D99B3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133754" y="2795531"/>
            <a:ext cx="4627200" cy="4723500"/>
          </a:xfrm>
          <a:prstGeom prst="ellipse">
            <a:avLst/>
          </a:prstGeom>
          <a:solidFill>
            <a:srgbClr val="0A3F3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757579" y="3408680"/>
            <a:ext cx="3887700" cy="4110300"/>
          </a:xfrm>
          <a:prstGeom prst="ellipse">
            <a:avLst/>
          </a:prstGeom>
          <a:solidFill>
            <a:srgbClr val="F4EFE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Where this tutorial is going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50" y="1371600"/>
            <a:ext cx="2651700" cy="1973100"/>
          </a:xfrm>
          <a:prstGeom prst="roundRect">
            <a:avLst>
              <a:gd fmla="val 2759" name="adj"/>
            </a:avLst>
          </a:prstGeom>
          <a:solidFill>
            <a:srgbClr val="E8E1D3"/>
          </a:solidFill>
          <a:ln cap="flat" cmpd="sng" w="12700">
            <a:solidFill>
              <a:srgbClr val="E8E1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0F5E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325874" y="1600268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Inspect the survey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85800" y="2240275"/>
            <a:ext cx="2286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Read the wording behind account_fin, fin2, fin8... before touching code.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456425" y="1371600"/>
            <a:ext cx="2651700" cy="2595600"/>
          </a:xfrm>
          <a:prstGeom prst="roundRect">
            <a:avLst>
              <a:gd fmla="val 2759" name="adj"/>
            </a:avLst>
          </a:prstGeom>
          <a:solidFill>
            <a:srgbClr val="F4EFE4"/>
          </a:solidFill>
          <a:ln cap="flat" cmpd="sng" w="12700">
            <a:solidFill>
              <a:srgbClr val="E8E1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3685032" y="1691640"/>
            <a:ext cx="548640" cy="548640"/>
          </a:xfrm>
          <a:prstGeom prst="ellipse">
            <a:avLst/>
          </a:prstGeom>
          <a:solidFill>
            <a:srgbClr val="0F5E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685032" y="16916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243490" y="1600210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Factor Analysis (FA)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39300" y="2143726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Do 8 binary items collapse into 2 meaningful latent constructs?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364225" y="1371600"/>
            <a:ext cx="2651700" cy="3498000"/>
          </a:xfrm>
          <a:prstGeom prst="roundRect">
            <a:avLst>
              <a:gd fmla="val 2759" name="adj"/>
            </a:avLst>
          </a:prstGeom>
          <a:solidFill>
            <a:srgbClr val="E8E1D3"/>
          </a:solidFill>
          <a:ln cap="flat" cmpd="sng" w="12700">
            <a:solidFill>
              <a:srgbClr val="E8E1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592824" y="1691640"/>
            <a:ext cx="548640" cy="548640"/>
          </a:xfrm>
          <a:prstGeom prst="ellipse">
            <a:avLst/>
          </a:prstGeom>
          <a:solidFill>
            <a:srgbClr val="0F5E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592824" y="16916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142015" y="1596895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SEM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547075" y="2158579"/>
            <a:ext cx="2286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Split into a measurement model and a structural path between the two constructs.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9272016" y="1371600"/>
            <a:ext cx="2651760" cy="4206240"/>
          </a:xfrm>
          <a:prstGeom prst="roundRect">
            <a:avLst>
              <a:gd fmla="val 2759" name="adj"/>
            </a:avLst>
          </a:prstGeom>
          <a:solidFill>
            <a:srgbClr val="F4EFE4"/>
          </a:solidFill>
          <a:ln cap="flat" cmpd="sng" w="12700">
            <a:solidFill>
              <a:srgbClr val="E8E1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9500616" y="1691640"/>
            <a:ext cx="548640" cy="548640"/>
          </a:xfrm>
          <a:prstGeom prst="ellipse">
            <a:avLst/>
          </a:prstGeom>
          <a:solidFill>
            <a:srgbClr val="0F5E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500616" y="16916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055755" y="1596895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Mediation preview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454900" y="3575701"/>
            <a:ext cx="2286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Set up (not estimate) a 3-variable mediation chain for Assignment 3.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Learning goal: read loadings, choose dimensions, link two latent constructs.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9601200" y="65379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BUAD 405 | Tutorial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Eight survey indicators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" name="Google Shape;57;p5"/>
          <p:cNvGraphicFramePr/>
          <p:nvPr/>
        </p:nvGraphicFramePr>
        <p:xfrm>
          <a:off x="383387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{737404CF-81AE-4D31-9FD4-0819B45FE42F}</a:tableStyleId>
              </a:tblPr>
              <a:tblGrid>
                <a:gridCol w="2194550"/>
                <a:gridCol w="548640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Survey meaning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5E5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5E5A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5E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account_fin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 an account at a financial institution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E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5E5A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5E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fin2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 a debit / ATM card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5E5A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5E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fin8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Typically keeps money in the account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E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5E5A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5E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fin9a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Received account-balance information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5E5A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5E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account_mob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 a mobile money account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E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5E5A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5E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fin25e2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Made an in-store digital purchase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5E5A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5E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fin26a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Made a bill payment by phone / computer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E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5E5A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5E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fin26b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Made an online purchase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" name="Google Shape;58;p5"/>
          <p:cNvSpPr/>
          <p:nvPr/>
        </p:nvSpPr>
        <p:spPr>
          <a:xfrm>
            <a:off x="8232900" y="1234450"/>
            <a:ext cx="3883500" cy="4937700"/>
          </a:xfrm>
          <a:prstGeom prst="roundRect">
            <a:avLst>
              <a:gd fmla="val 2353" name="adj"/>
            </a:avLst>
          </a:prstGeom>
          <a:solidFill>
            <a:srgbClr val="E8E1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8352450" y="1322575"/>
            <a:ext cx="3648300" cy="3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6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One row = one respondent</a:t>
            </a:r>
            <a:r>
              <a:rPr lang="en-US" sz="16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 — not one firm, not one country.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6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The survey </a:t>
            </a:r>
            <a:r>
              <a:rPr b="1" lang="en-US" sz="16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wording</a:t>
            </a:r>
            <a:r>
              <a:rPr lang="en-US" sz="16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 defines the variable; the short column name (e.g. fin8) does not.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- yes/no</a:t>
            </a:r>
            <a:r>
              <a:rPr lang="en-US" sz="16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 items are coded 1 = Yes, 2 = No.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- Blank values</a:t>
            </a:r>
            <a:r>
              <a:rPr lang="en-US" sz="16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 are often skip patterns from the questionnaire, not random missing data. </a:t>
            </a:r>
            <a:endParaRPr sz="1600">
              <a:solidFill>
                <a:srgbClr val="0F5E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Financial inclusion is broader than owning an account. Findex lets us check whether people also access and actively use digital financial tools.</a:t>
            </a:r>
            <a:endParaRPr sz="2000">
              <a:solidFill>
                <a:srgbClr val="0F5E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F5E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Ownership · behaviour · access · use · perceptions — not accounting ratios.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9601200" y="65379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BUAD 405 | Tutorial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Correlating binary items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48640" y="1371600"/>
            <a:ext cx="5120640" cy="1828800"/>
          </a:xfrm>
          <a:prstGeom prst="roundRect">
            <a:avLst>
              <a:gd fmla="val 4000" name="adj"/>
            </a:avLst>
          </a:prstGeom>
          <a:solidFill>
            <a:srgbClr val="0F5E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822960" y="13716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B3C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D99B3C"/>
                </a:solidFill>
                <a:latin typeface="Consolas"/>
                <a:ea typeface="Consolas"/>
                <a:cs typeface="Consolas"/>
                <a:sym typeface="Consolas"/>
              </a:rPr>
              <a:t>tetrachoric(items)$rho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48640" y="3383280"/>
            <a:ext cx="51206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Standard Pearson correlation</a:t>
            </a:r>
            <a:r>
              <a:rPr lang="en-US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 compares raw </a:t>
            </a:r>
            <a:r>
              <a:rPr lang="en-US" sz="1600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1/0</a:t>
            </a:r>
            <a:r>
              <a:rPr lang="en-US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 values directly. </a:t>
            </a:r>
            <a:endParaRPr>
              <a:solidFill>
                <a:srgbClr val="1B2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400"/>
              <a:buFont typeface="Calibri"/>
              <a:buNone/>
            </a:pPr>
            <a:r>
              <a:rPr lang="en-US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If two questions have very different difficulty levels, Pearson heavily penalizes the mismatch and </a:t>
            </a:r>
            <a:r>
              <a:rPr i="1" lang="en-US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underestimates </a:t>
            </a:r>
            <a:r>
              <a:rPr lang="en-US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their relationship. \</a:t>
            </a:r>
            <a:endParaRPr>
              <a:solidFill>
                <a:srgbClr val="1B2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1B2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Tetrachoric correlation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assumes a smooth, continuous </a:t>
            </a: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unobserved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trait (e.g., </a:t>
            </a:r>
            <a:r>
              <a:rPr i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Physics Ability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exists behind binary outcomes and estimates the true underlying correlation.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B2B2A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6035040" y="1371600"/>
            <a:ext cx="5577840" cy="4754880"/>
          </a:xfrm>
          <a:prstGeom prst="roundRect">
            <a:avLst>
              <a:gd fmla="val 1538" name="adj"/>
            </a:avLst>
          </a:prstGeom>
          <a:solidFill>
            <a:srgbClr val="F7F5EF"/>
          </a:solidFill>
          <a:ln cap="flat" cmpd="sng" w="12700">
            <a:solidFill>
              <a:srgbClr val="E8E1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6083631" y="1392967"/>
            <a:ext cx="5486400" cy="45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 u="sng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b="1"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: Physics Exam (100 Students)</a:t>
            </a:r>
            <a:endParaRPr b="1">
              <a:solidFill>
                <a:srgbClr val="0F5E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5E5A"/>
              </a:buClr>
              <a:buSzPts val="1400"/>
              <a:buChar char="●"/>
            </a:pPr>
            <a:r>
              <a:rPr b="1"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Question A (Easy):</a:t>
            </a:r>
            <a:r>
              <a:rPr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 "Define velocity." → </a:t>
            </a:r>
            <a:r>
              <a:rPr b="1"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79 Pass / 21 Fail</a:t>
            </a:r>
            <a:endParaRPr b="1">
              <a:solidFill>
                <a:srgbClr val="0F5E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400"/>
              <a:buChar char="●"/>
            </a:pPr>
            <a:r>
              <a:rPr b="1"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Question B (Hard):</a:t>
            </a:r>
            <a:r>
              <a:rPr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 "Calculate quantum momentum." → </a:t>
            </a:r>
            <a:r>
              <a:rPr b="1"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31 Pass / 69 Fail</a:t>
            </a:r>
            <a:endParaRPr b="1">
              <a:solidFill>
                <a:srgbClr val="0F5E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30 </a:t>
            </a:r>
            <a:r>
              <a:rPr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passed </a:t>
            </a:r>
            <a:r>
              <a:rPr b="1"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r>
              <a:rPr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6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20 </a:t>
            </a:r>
            <a:r>
              <a:rPr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failed </a:t>
            </a:r>
            <a:r>
              <a:rPr b="1"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r>
              <a:rPr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49 </a:t>
            </a:r>
            <a:r>
              <a:rPr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passed </a:t>
            </a:r>
            <a:r>
              <a:rPr b="1"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but failed </a:t>
            </a:r>
            <a:r>
              <a:rPr b="1"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5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failed </a:t>
            </a:r>
            <a:r>
              <a:rPr b="1"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but passed </a:t>
            </a:r>
            <a:r>
              <a:rPr b="1" lang="en-US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>
              <a:solidFill>
                <a:srgbClr val="0F5E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F5E5A"/>
                </a:solidFill>
              </a:rPr>
              <a:t>Pearson Correlation (r = 0.292):</a:t>
            </a:r>
            <a:r>
              <a:rPr lang="en-US">
                <a:solidFill>
                  <a:srgbClr val="0F5E5A"/>
                </a:solidFill>
              </a:rPr>
              <a:t> Misleadingly low. Penalizes the 49-student gap caused purely by question difficulty.</a:t>
            </a:r>
            <a:endParaRPr>
              <a:solidFill>
                <a:srgbClr val="0F5E5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F5E5A"/>
                </a:solidFill>
              </a:rPr>
              <a:t>Tetrachoric Correlation (rho = 0.766):</a:t>
            </a:r>
            <a:r>
              <a:rPr lang="en-US">
                <a:solidFill>
                  <a:srgbClr val="0F5E5A"/>
                </a:solidFill>
              </a:rPr>
              <a:t> Accurately captures that almost every student who passed the hard question also passed the easy one.</a:t>
            </a:r>
            <a:endParaRPr>
              <a:solidFill>
                <a:srgbClr val="0F5E5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5E5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Pearson penalizes this mismatch heavily and outputs a weak correlation of </a:t>
            </a:r>
            <a:r>
              <a:rPr b="1" lang="en-US" sz="15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$0.292$</a:t>
            </a:r>
            <a:r>
              <a:rPr lang="en-US" sz="15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, falsely suggesting the two questions have very little to do with each other—even though nearly </a:t>
            </a:r>
            <a:r>
              <a:rPr i="1" lang="en-US" sz="15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every single student</a:t>
            </a:r>
            <a:r>
              <a:rPr lang="en-US" sz="15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 who solved the hard question also solved the easy one. </a:t>
            </a:r>
            <a:endParaRPr sz="1800">
              <a:solidFill>
                <a:srgbClr val="0F5E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R: Rtet &lt;- tetrachoric(items)$rho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9601200" y="65379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BUAD 405 | Tutorial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The factor analysis model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548640" y="1280160"/>
            <a:ext cx="11064240" cy="1005840"/>
          </a:xfrm>
          <a:prstGeom prst="roundRect">
            <a:avLst>
              <a:gd fmla="val 7273" name="adj"/>
            </a:avLst>
          </a:prstGeom>
          <a:solidFill>
            <a:srgbClr val="0F5E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548640" y="128016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9B3C"/>
              </a:buClr>
              <a:buSzPts val="2600"/>
              <a:buFont typeface="Cambria Math"/>
              <a:buNone/>
            </a:pPr>
            <a:r>
              <a:rPr b="1" i="0" lang="en-US" sz="2600" u="none" cap="none" strike="noStrike">
                <a:solidFill>
                  <a:srgbClr val="D99B3C"/>
                </a:solidFill>
                <a:latin typeface="Cambria Math"/>
                <a:ea typeface="Cambria Math"/>
                <a:cs typeface="Cambria Math"/>
                <a:sym typeface="Cambria Math"/>
              </a:rPr>
              <a:t>itemⱼ = λⱼ · Factor + εⱼ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48640" y="2606040"/>
            <a:ext cx="82296" cy="685800"/>
          </a:xfrm>
          <a:prstGeom prst="rect">
            <a:avLst/>
          </a:prstGeom>
          <a:solidFill>
            <a:srgbClr val="D9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777240" y="260604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0F5E5A"/>
                </a:solidFill>
                <a:latin typeface="Consolas"/>
                <a:ea typeface="Consolas"/>
                <a:cs typeface="Consolas"/>
                <a:sym typeface="Consolas"/>
              </a:rPr>
              <a:t>itemⱼ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2926080" y="260604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the observed answer to survey item j (e.g., fin26b, online purchase)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548640" y="3429000"/>
            <a:ext cx="82296" cy="685800"/>
          </a:xfrm>
          <a:prstGeom prst="rect">
            <a:avLst/>
          </a:prstGeom>
          <a:solidFill>
            <a:srgbClr val="D9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777240" y="342900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0F5E5A"/>
                </a:solidFill>
                <a:latin typeface="Consolas"/>
                <a:ea typeface="Consolas"/>
                <a:cs typeface="Consolas"/>
                <a:sym typeface="Consolas"/>
              </a:rPr>
              <a:t>Factor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2926080" y="342900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the unobserved latent construct (e.g., "Digital Financial Activity")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548640" y="4251960"/>
            <a:ext cx="82296" cy="685800"/>
          </a:xfrm>
          <a:prstGeom prst="rect">
            <a:avLst/>
          </a:prstGeom>
          <a:solidFill>
            <a:srgbClr val="D9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777240" y="425196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0F5E5A"/>
                </a:solidFill>
                <a:latin typeface="Consolas"/>
                <a:ea typeface="Consolas"/>
                <a:cs typeface="Consolas"/>
                <a:sym typeface="Consolas"/>
              </a:rPr>
              <a:t>λⱼ (loading)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2926080" y="425196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how strongly item j reflects the factor — this is what FA estimates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548640" y="5074920"/>
            <a:ext cx="82296" cy="685800"/>
          </a:xfrm>
          <a:prstGeom prst="rect">
            <a:avLst/>
          </a:prstGeom>
          <a:solidFill>
            <a:srgbClr val="D9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777240" y="507492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0F5E5A"/>
                </a:solidFill>
                <a:latin typeface="Consolas"/>
                <a:ea typeface="Consolas"/>
                <a:cs typeface="Consolas"/>
                <a:sym typeface="Consolas"/>
              </a:rPr>
              <a:t>εⱼ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926080" y="507492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the part of item j the factor does NOT explain (its uniqueness)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9601200" y="65379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BUAD 405 | Tutorial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/>
          <p:nvPr/>
        </p:nvSpPr>
        <p:spPr>
          <a:xfrm>
            <a:off x="548640" y="148523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What are FA outputs (</a:t>
            </a:r>
            <a:r>
              <a:rPr lang="en-US" sz="26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important ones</a:t>
            </a:r>
            <a:r>
              <a:rPr b="1" lang="en-US" sz="28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48650" y="4223148"/>
            <a:ext cx="5394900" cy="2137500"/>
          </a:xfrm>
          <a:prstGeom prst="roundRect">
            <a:avLst>
              <a:gd fmla="val 1538" name="adj"/>
            </a:avLst>
          </a:prstGeom>
          <a:solidFill>
            <a:srgbClr val="F7F5EF"/>
          </a:solidFill>
          <a:ln cap="flat" cmpd="sng" w="12700">
            <a:solidFill>
              <a:srgbClr val="E8E1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822970" y="4325902"/>
            <a:ext cx="4846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Scree plot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822970" y="4551961"/>
            <a:ext cx="48462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Plots eigenvalues in decreasing order. </a:t>
            </a:r>
            <a:endParaRPr b="0" i="0" sz="1350" u="none" cap="none" strike="noStrike">
              <a:solidFill>
                <a:srgbClr val="1B2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Look for the "elbow" — the point where extra factors stop adding much explanatory power.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822970" y="5250689"/>
            <a:ext cx="4846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Parallel 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822970" y="5476748"/>
            <a:ext cx="4846200" cy="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Compares your real eigenvalues to eigenvalues from random, uncorrelated data. Keep a factor only if it beats its random-data counterpart.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6172201" y="4223148"/>
            <a:ext cx="5440800" cy="2137500"/>
          </a:xfrm>
          <a:prstGeom prst="roundRect">
            <a:avLst>
              <a:gd fmla="val 1538" name="adj"/>
            </a:avLst>
          </a:prstGeom>
          <a:solidFill>
            <a:srgbClr val="0F5E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6446521" y="4367004"/>
            <a:ext cx="4937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B3C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D99B3C"/>
                </a:solidFill>
                <a:latin typeface="Consolas"/>
                <a:ea typeface="Consolas"/>
                <a:cs typeface="Consolas"/>
                <a:sym typeface="Consolas"/>
              </a:rPr>
              <a:t>fa.parallel(Rtet, n.obs = nrow(items),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B3C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D99B3C"/>
                </a:solidFill>
                <a:latin typeface="Consolas"/>
                <a:ea typeface="Consolas"/>
                <a:cs typeface="Consolas"/>
                <a:sym typeface="Consolas"/>
              </a:rPr>
              <a:t>  fa = "fa", fm = "minres")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6446521" y="4880774"/>
            <a:ext cx="4937700" cy="13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this dataset, two factors is the expected, defensible answer — matching the two-construct story the tutorial builds toward (Formal Account Engagement, Digital Financial Activity).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We keep this simple: visual plot only, not a formal statistical test.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9601200" y="65379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BUAD 405 | Tutorial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4835269" y="1018562"/>
            <a:ext cx="2651700" cy="2484900"/>
          </a:xfrm>
          <a:prstGeom prst="roundRect">
            <a:avLst>
              <a:gd fmla="val 2759" name="adj"/>
            </a:avLst>
          </a:prstGeom>
          <a:solidFill>
            <a:srgbClr val="E8E1D3"/>
          </a:solidFill>
          <a:ln cap="flat" cmpd="sng" w="12700">
            <a:solidFill>
              <a:srgbClr val="E8E1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4968875" y="1115499"/>
            <a:ext cx="548700" cy="548700"/>
          </a:xfrm>
          <a:prstGeom prst="ellipse">
            <a:avLst/>
          </a:prstGeom>
          <a:solidFill>
            <a:srgbClr val="0F5E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4968875" y="1099345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5579434" y="999351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Loadings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2042844" y="1021415"/>
            <a:ext cx="2651700" cy="2484900"/>
          </a:xfrm>
          <a:prstGeom prst="roundRect">
            <a:avLst>
              <a:gd fmla="val 2759" name="adj"/>
            </a:avLst>
          </a:prstGeom>
          <a:solidFill>
            <a:srgbClr val="F4EFE4"/>
          </a:solidFill>
          <a:ln cap="flat" cmpd="sng" w="12700">
            <a:solidFill>
              <a:srgbClr val="E8E1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2122734" y="1143041"/>
            <a:ext cx="548700" cy="548700"/>
          </a:xfrm>
          <a:prstGeom prst="ellipse">
            <a:avLst/>
          </a:prstGeom>
          <a:solidFill>
            <a:srgbClr val="0F5E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7622294" y="1039987"/>
            <a:ext cx="2651700" cy="2484900"/>
          </a:xfrm>
          <a:prstGeom prst="roundRect">
            <a:avLst>
              <a:gd fmla="val 2759" name="adj"/>
            </a:avLst>
          </a:prstGeom>
          <a:solidFill>
            <a:srgbClr val="E8E1D3"/>
          </a:solidFill>
          <a:ln cap="flat" cmpd="sng" w="12700">
            <a:solidFill>
              <a:srgbClr val="E8E1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7834361" y="1194775"/>
            <a:ext cx="548700" cy="548700"/>
          </a:xfrm>
          <a:prstGeom prst="ellipse">
            <a:avLst/>
          </a:prstGeom>
          <a:solidFill>
            <a:srgbClr val="0F5E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7831336" y="1165099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8380527" y="1070354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Communalities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4801394" y="1681268"/>
            <a:ext cx="27816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correlation-like </a:t>
            </a:r>
            <a:r>
              <a:rPr i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between an observed item and a  hidden factor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strongly that one survey answer moves together with the invisible construct.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loadings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(closer to 1.0 or -1.0) mean the survey answer is a powerful indicator of that invisible construct.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548640" y="3561494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How many factors to keep?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2123101" y="112412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7482905" y="4084730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Eigenvalues / variance explained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2081665" y="1677481"/>
            <a:ext cx="2651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trachoric correlation matrix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created assumes a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hidden trait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Eigenvalues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 the total variance (direction &amp;  strength) captured by each of these hidden traits.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eigenvalue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greater than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means that specific factor explains more information than a single standalone survey question.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2671784" y="986876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Eigenvalues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7588869" y="1666337"/>
            <a:ext cx="2651700" cy="17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total percentage of a single survey question's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variance explained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all extracted factors combined.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communalities</a:t>
            </a:r>
            <a:r>
              <a:rPr b="1"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reveal how much of that question's unique shape was successfully captured by the final model.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Reading the </a:t>
            </a:r>
            <a:r>
              <a:rPr b="1" i="0" lang="en-US" sz="2800" u="sng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rotated</a:t>
            </a:r>
            <a:r>
              <a:rPr b="1" i="0" lang="en-US" sz="28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 loadings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5" name="Google Shape;135;p9"/>
          <p:cNvGraphicFramePr/>
          <p:nvPr/>
        </p:nvGraphicFramePr>
        <p:xfrm>
          <a:off x="5486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{737404CF-81AE-4D31-9FD4-0819B45FE42F}</a:tableStyleId>
              </a:tblPr>
              <a:tblGrid>
                <a:gridCol w="2926075"/>
                <a:gridCol w="1645925"/>
                <a:gridCol w="1645925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Factor 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Factor 2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5E5A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5E5A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5E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account_fin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9B3C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99B3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.78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B2B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.05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5E5A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5E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debit_card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9B3C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99B3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.71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B2B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.10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5E5A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5E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keeps_money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9B3C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99B3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.65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B2B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-.02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5E5A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5E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balance_information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9B3C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99B3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.58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B2B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.14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5E5A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5E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mobile_money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B2B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.08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9B3C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99B3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.74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5E5A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5E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store_purchase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B2B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.02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9B3C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99B3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.69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5E5A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5E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bill_payment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B2B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-.05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9B3C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99B3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.66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5E5A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5E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online_purchase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B2B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.11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9B3C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99B3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.72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1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136;p9"/>
          <p:cNvSpPr/>
          <p:nvPr/>
        </p:nvSpPr>
        <p:spPr>
          <a:xfrm>
            <a:off x="7040875" y="3675225"/>
            <a:ext cx="4572000" cy="2405400"/>
          </a:xfrm>
          <a:prstGeom prst="roundRect">
            <a:avLst>
              <a:gd fmla="val 1600" name="adj"/>
            </a:avLst>
          </a:prstGeom>
          <a:solidFill>
            <a:srgbClr val="F7F5EF"/>
          </a:solidFill>
          <a:ln cap="flat" cmpd="sng" w="12700">
            <a:solidFill>
              <a:srgbClr val="E8E1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7315195" y="3788687"/>
            <a:ext cx="40233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Grouping rule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7315195" y="4010863"/>
            <a:ext cx="4023300" cy="19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Items in gold load ≥ .30 on that factor — group them together.</a:t>
            </a:r>
            <a:br>
              <a:rPr b="0" i="0" lang="en-US" sz="125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Factor 1 groups account_fin, debit_card, keeps_money, balance_information → candidate label: “Formal Account Engagement.”</a:t>
            </a:r>
            <a:br>
              <a:rPr b="0" i="0" lang="en-US" sz="125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Factor 2 groups mobile_money, store_purchase, bill_payment, online_purchase → candidate label: “Digital Financial Activity.”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Flag any item with no loading ≥ .30, or with strong loadings on both factors.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9601200" y="65379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BUAD 405 | Tutorial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9" title="factor_rotation_intui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8965" y="133671"/>
            <a:ext cx="4729170" cy="236458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9"/>
          <p:cNvSpPr txBox="1"/>
          <p:nvPr/>
        </p:nvSpPr>
        <p:spPr>
          <a:xfrm>
            <a:off x="7040875" y="2367800"/>
            <a:ext cx="457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A3F3C"/>
                </a:solidFill>
                <a:latin typeface="Calibri"/>
                <a:ea typeface="Calibri"/>
                <a:cs typeface="Calibri"/>
                <a:sym typeface="Calibri"/>
              </a:rPr>
              <a:t>Rotation doesn't change the model's fit at all </a:t>
            </a:r>
            <a:r>
              <a:rPr lang="en-US">
                <a:solidFill>
                  <a:srgbClr val="0A3F3C"/>
                </a:solidFill>
                <a:latin typeface="Calibri"/>
                <a:ea typeface="Calibri"/>
                <a:cs typeface="Calibri"/>
                <a:sym typeface="Calibri"/>
              </a:rPr>
              <a:t>— it just spins the factor axes in space to make the loadings easier to read: pushing them toward either </a:t>
            </a:r>
            <a:r>
              <a:rPr b="1" lang="en-US">
                <a:solidFill>
                  <a:srgbClr val="0A3F3C"/>
                </a:solidFill>
                <a:latin typeface="Calibri"/>
                <a:ea typeface="Calibri"/>
                <a:cs typeface="Calibri"/>
                <a:sym typeface="Calibri"/>
              </a:rPr>
              <a:t>near-1</a:t>
            </a:r>
            <a:r>
              <a:rPr lang="en-US">
                <a:solidFill>
                  <a:srgbClr val="0A3F3C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i="1" lang="en-US">
                <a:solidFill>
                  <a:srgbClr val="0A3F3C"/>
                </a:solidFill>
                <a:latin typeface="Calibri"/>
                <a:ea typeface="Calibri"/>
                <a:cs typeface="Calibri"/>
                <a:sym typeface="Calibri"/>
              </a:rPr>
              <a:t>clearly belongs</a:t>
            </a:r>
            <a:r>
              <a:rPr lang="en-US">
                <a:solidFill>
                  <a:srgbClr val="0A3F3C"/>
                </a:solidFill>
                <a:latin typeface="Calibri"/>
                <a:ea typeface="Calibri"/>
                <a:cs typeface="Calibri"/>
                <a:sym typeface="Calibri"/>
              </a:rPr>
              <a:t>) or </a:t>
            </a:r>
            <a:r>
              <a:rPr b="1" lang="en-US">
                <a:solidFill>
                  <a:srgbClr val="0A3F3C"/>
                </a:solidFill>
                <a:latin typeface="Calibri"/>
                <a:ea typeface="Calibri"/>
                <a:cs typeface="Calibri"/>
                <a:sym typeface="Calibri"/>
              </a:rPr>
              <a:t>near-0 </a:t>
            </a:r>
            <a:r>
              <a:rPr lang="en-US">
                <a:solidFill>
                  <a:srgbClr val="0A3F3C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>
                <a:solidFill>
                  <a:srgbClr val="0A3F3C"/>
                </a:solidFill>
                <a:latin typeface="Calibri"/>
                <a:ea typeface="Calibri"/>
                <a:cs typeface="Calibri"/>
                <a:sym typeface="Calibri"/>
              </a:rPr>
              <a:t>clearly doesn't</a:t>
            </a:r>
            <a:r>
              <a:rPr lang="en-US">
                <a:solidFill>
                  <a:srgbClr val="0A3F3C"/>
                </a:solidFill>
                <a:latin typeface="Calibri"/>
                <a:ea typeface="Calibri"/>
                <a:cs typeface="Calibri"/>
                <a:sym typeface="Calibri"/>
              </a:rPr>
              <a:t>), instead of a smear of medium values across every factor.</a:t>
            </a:r>
            <a:endParaRPr>
              <a:solidFill>
                <a:srgbClr val="0A3F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SEM: two models in one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218150" y="1005850"/>
            <a:ext cx="5394900" cy="2484300"/>
          </a:xfrm>
          <a:prstGeom prst="roundRect">
            <a:avLst>
              <a:gd fmla="val 1538" name="adj"/>
            </a:avLst>
          </a:prstGeom>
          <a:solidFill>
            <a:srgbClr val="F7F5EF"/>
          </a:solidFill>
          <a:ln cap="flat" cmpd="sng" w="12700">
            <a:solidFill>
              <a:srgbClr val="E8E1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492470" y="1125288"/>
            <a:ext cx="4846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Measurement 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492470" y="1388050"/>
            <a:ext cx="4846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How strongly each observed survey item measures its latent construct — the same loadings idea as FA, now estimated jointly with the structural path.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492470" y="2200225"/>
            <a:ext cx="4572000" cy="262800"/>
          </a:xfrm>
          <a:prstGeom prst="rect">
            <a:avLst/>
          </a:prstGeom>
          <a:solidFill>
            <a:srgbClr val="0F5E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492470" y="2200225"/>
            <a:ext cx="4572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9B3C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D99B3C"/>
                </a:solidFill>
                <a:latin typeface="Consolas"/>
                <a:ea typeface="Consolas"/>
                <a:cs typeface="Consolas"/>
                <a:sym typeface="Consolas"/>
              </a:rPr>
              <a:t>FormalEngagement =~ account_fin + ...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492470" y="2558538"/>
            <a:ext cx="48462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=~   “is measured by”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195175" y="3657400"/>
            <a:ext cx="5440800" cy="2484300"/>
          </a:xfrm>
          <a:prstGeom prst="roundRect">
            <a:avLst>
              <a:gd fmla="val 1538" name="adj"/>
            </a:avLst>
          </a:prstGeom>
          <a:solidFill>
            <a:srgbClr val="0F5E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469494" y="3776838"/>
            <a:ext cx="4846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B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Structural 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469494" y="4039600"/>
            <a:ext cx="48462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direction and strength of the relationship between the two latent constructs themselves.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69494" y="4708450"/>
            <a:ext cx="4572000" cy="262800"/>
          </a:xfrm>
          <a:prstGeom prst="rect">
            <a:avLst/>
          </a:prstGeom>
          <a:solidFill>
            <a:srgbClr val="D9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469494" y="4708450"/>
            <a:ext cx="4572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F3C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0A3F3C"/>
                </a:solidFill>
                <a:latin typeface="Consolas"/>
                <a:ea typeface="Consolas"/>
                <a:cs typeface="Consolas"/>
                <a:sym typeface="Consolas"/>
              </a:rPr>
              <a:t>DigitalActivity ~ FormalEngagement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469494" y="5066763"/>
            <a:ext cx="48462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1D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8E1D3"/>
                </a:solidFill>
                <a:latin typeface="Calibri"/>
                <a:ea typeface="Calibri"/>
                <a:cs typeface="Calibri"/>
                <a:sym typeface="Calibri"/>
              </a:rPr>
              <a:t>~   “is regressed on”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469494" y="5401188"/>
            <a:ext cx="48462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1D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1D3"/>
                </a:solidFill>
                <a:latin typeface="Calibri"/>
                <a:ea typeface="Calibri"/>
                <a:cs typeface="Calibri"/>
                <a:sym typeface="Calibri"/>
              </a:rPr>
              <a:t>Keep the language associational: cross-sectional survey data does not by itself establish causality.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R: sem(model, data = items, ordered = names(items), estimator = "WLSMV")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9601200" y="65379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BUAD 405 | Tutorial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0" title="sem_measurement_structur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8375" y="-15056"/>
            <a:ext cx="6251228" cy="367809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 txBox="1"/>
          <p:nvPr/>
        </p:nvSpPr>
        <p:spPr>
          <a:xfrm>
            <a:off x="6263106" y="3671950"/>
            <a:ext cx="5324400" cy="29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- </a:t>
            </a:r>
            <a:r>
              <a:rPr b="1" lang="en-US" sz="1100">
                <a:solidFill>
                  <a:schemeClr val="dk1"/>
                </a:solidFill>
              </a:rPr>
              <a:t>Bottom row → circles (measurement model):</a:t>
            </a:r>
            <a:r>
              <a:rPr lang="en-US" sz="1100">
                <a:solidFill>
                  <a:schemeClr val="dk1"/>
                </a:solidFill>
              </a:rPr>
              <a:t> your survey answers are </a:t>
            </a:r>
            <a:r>
              <a:rPr i="1" lang="en-US" sz="1100">
                <a:solidFill>
                  <a:schemeClr val="dk1"/>
                </a:solidFill>
              </a:rPr>
              <a:t>evidence</a:t>
            </a:r>
            <a:r>
              <a:rPr lang="en-US" sz="1100">
                <a:solidFill>
                  <a:schemeClr val="dk1"/>
                </a:solidFill>
              </a:rPr>
              <a:t> of a construct, not the construct itself. Arrows point up because the item reflects the construct — not the reverse.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- </a:t>
            </a:r>
            <a:r>
              <a:rPr b="1" lang="en-US" sz="1100">
                <a:solidFill>
                  <a:schemeClr val="dk1"/>
                </a:solidFill>
              </a:rPr>
              <a:t>Circle → circle (structural model):</a:t>
            </a:r>
            <a:r>
              <a:rPr lang="en-US" sz="1100">
                <a:solidFill>
                  <a:schemeClr val="dk1"/>
                </a:solidFill>
              </a:rPr>
              <a:t> this is the actual research question — does Formal Engagement predict Digital Activity?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- </a:t>
            </a:r>
            <a:r>
              <a:rPr b="1" lang="en-US" sz="1100">
                <a:solidFill>
                  <a:schemeClr val="dk1"/>
                </a:solidFill>
              </a:rPr>
              <a:t>"Loading" = how good a symptom is this item?</a:t>
            </a:r>
            <a:r>
              <a:rPr lang="en-US" sz="1100">
                <a:solidFill>
                  <a:schemeClr val="dk1"/>
                </a:solidFill>
              </a:rPr>
              <a:t> High loading on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account_fin</a:t>
            </a:r>
            <a:r>
              <a:rPr lang="en-US" sz="1100">
                <a:solidFill>
                  <a:schemeClr val="dk1"/>
                </a:solidFill>
              </a:rPr>
              <a:t> → having an account is a strong tell you're formally engaged. Low loading → weak, noisy signal.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- </a:t>
            </a:r>
            <a:r>
              <a:rPr b="1" lang="en-US" sz="1100">
                <a:solidFill>
                  <a:schemeClr val="dk1"/>
                </a:solidFill>
              </a:rPr>
              <a:t>The structural arrow is just a regression</a:t>
            </a:r>
            <a:r>
              <a:rPr lang="en-US" sz="1100">
                <a:solidFill>
                  <a:schemeClr val="dk1"/>
                </a:solidFill>
              </a:rPr>
              <a:t> — same logic as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 ~ x</a:t>
            </a:r>
            <a:r>
              <a:rPr lang="en-US" sz="1100">
                <a:solidFill>
                  <a:schemeClr val="dk1"/>
                </a:solidFill>
              </a:rPr>
              <a:t>, except both sides are estimated constructs instead of raw columns.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5886300" y="3654877"/>
            <a:ext cx="625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"Estimate the invisible things, then test the relationship between them."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Interpreting the SEM output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548650" y="1371600"/>
            <a:ext cx="2697600" cy="2311500"/>
          </a:xfrm>
          <a:prstGeom prst="roundRect">
            <a:avLst>
              <a:gd fmla="val 2712" name="adj"/>
            </a:avLst>
          </a:prstGeom>
          <a:solidFill>
            <a:srgbClr val="F7F5EF"/>
          </a:solidFill>
          <a:ln cap="flat" cmpd="sng" w="12700">
            <a:solidFill>
              <a:srgbClr val="E8E1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713232" y="1554480"/>
            <a:ext cx="236829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Measurement table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713232" y="2240280"/>
            <a:ext cx="2368296" cy="502920"/>
          </a:xfrm>
          <a:prstGeom prst="rect">
            <a:avLst/>
          </a:prstGeom>
          <a:solidFill>
            <a:srgbClr val="0F5E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713232" y="2240280"/>
            <a:ext cx="23682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9B3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99B3C"/>
                </a:solidFill>
                <a:latin typeface="Consolas"/>
                <a:ea typeface="Consolas"/>
                <a:cs typeface="Consolas"/>
                <a:sym typeface="Consolas"/>
              </a:rPr>
              <a:t>out[out$op == "=~",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713232" y="2926080"/>
            <a:ext cx="2368296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Are the observed items loading meaningfully (large, significant) on their intended construct?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3465575" y="1371600"/>
            <a:ext cx="2697600" cy="3381000"/>
          </a:xfrm>
          <a:prstGeom prst="roundRect">
            <a:avLst>
              <a:gd fmla="val 2712" name="adj"/>
            </a:avLst>
          </a:prstGeom>
          <a:solidFill>
            <a:srgbClr val="E8E1D3"/>
          </a:solidFill>
          <a:ln cap="flat" cmpd="sng" w="12700">
            <a:solidFill>
              <a:srgbClr val="E8E1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3630168" y="1554480"/>
            <a:ext cx="236829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Structural table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3630168" y="2240280"/>
            <a:ext cx="2368296" cy="502920"/>
          </a:xfrm>
          <a:prstGeom prst="rect">
            <a:avLst/>
          </a:prstGeom>
          <a:solidFill>
            <a:srgbClr val="0F5E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3630168" y="2240280"/>
            <a:ext cx="23682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9B3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99B3C"/>
                </a:solidFill>
                <a:latin typeface="Consolas"/>
                <a:ea typeface="Consolas"/>
                <a:cs typeface="Consolas"/>
                <a:sym typeface="Consolas"/>
              </a:rPr>
              <a:t>out[out$op == "~",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3630175" y="2926079"/>
            <a:ext cx="23682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Sign and size of FormalEngagement → DigitalActivity. Positive &amp; significant = they move together.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6382500" y="1371600"/>
            <a:ext cx="2697600" cy="4049400"/>
          </a:xfrm>
          <a:prstGeom prst="roundRect">
            <a:avLst>
              <a:gd fmla="val 2712" name="adj"/>
            </a:avLst>
          </a:prstGeom>
          <a:solidFill>
            <a:srgbClr val="F7F5EF"/>
          </a:solidFill>
          <a:ln cap="flat" cmpd="sng" w="12700">
            <a:solidFill>
              <a:srgbClr val="E8E1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6547104" y="1554480"/>
            <a:ext cx="236829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6547104" y="2240280"/>
            <a:ext cx="2368296" cy="502920"/>
          </a:xfrm>
          <a:prstGeom prst="rect">
            <a:avLst/>
          </a:prstGeom>
          <a:solidFill>
            <a:srgbClr val="0F5E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6547104" y="2240280"/>
            <a:ext cx="23682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9B3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99B3C"/>
                </a:solidFill>
                <a:latin typeface="Consolas"/>
                <a:ea typeface="Consolas"/>
                <a:cs typeface="Consolas"/>
                <a:sym typeface="Consolas"/>
              </a:rPr>
              <a:t>inspect(fit, "r2")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6547100" y="2926077"/>
            <a:ext cx="2368200" cy="18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Share of variance in DigitalActivity explained by FormalEngagement. Familiar, but not a fit test.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9299448" y="1371600"/>
            <a:ext cx="2697480" cy="4754880"/>
          </a:xfrm>
          <a:prstGeom prst="roundRect">
            <a:avLst>
              <a:gd fmla="val 2712" name="adj"/>
            </a:avLst>
          </a:prstGeom>
          <a:solidFill>
            <a:srgbClr val="E8E1D3"/>
          </a:solidFill>
          <a:ln cap="flat" cmpd="sng" w="12700">
            <a:solidFill>
              <a:srgbClr val="E8E1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9464040" y="1554480"/>
            <a:ext cx="236829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Fit index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9464040" y="2240280"/>
            <a:ext cx="2368296" cy="502920"/>
          </a:xfrm>
          <a:prstGeom prst="rect">
            <a:avLst/>
          </a:prstGeom>
          <a:solidFill>
            <a:srgbClr val="0F5E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9464040" y="2240280"/>
            <a:ext cx="23682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9B3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99B3C"/>
                </a:solidFill>
                <a:latin typeface="Consolas"/>
                <a:ea typeface="Consolas"/>
                <a:cs typeface="Consolas"/>
                <a:sym typeface="Consolas"/>
              </a:rPr>
              <a:t>fitMeasures(fit, c("cfi","rmsea"))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9464040" y="2926080"/>
            <a:ext cx="2368296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B2A"/>
                </a:solidFill>
                <a:latin typeface="Calibri"/>
                <a:ea typeface="Calibri"/>
                <a:cs typeface="Calibri"/>
                <a:sym typeface="Calibri"/>
              </a:rPr>
              <a:t>One overall check: CFI closer to 1 is better; RMSEA closer to 0 is better.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R² alone is not a test of overall model fit — pair it with CFI or RMSEA.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9601200" y="65379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5E5A"/>
                </a:solidFill>
                <a:latin typeface="Calibri"/>
                <a:ea typeface="Calibri"/>
                <a:cs typeface="Calibri"/>
                <a:sym typeface="Calibri"/>
              </a:rPr>
              <a:t>BUAD 405 | Tutorial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3F3C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Lead-in: mediation preview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1D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E8E1D3"/>
                </a:solidFill>
                <a:latin typeface="Calibri"/>
                <a:ea typeface="Calibri"/>
                <a:cs typeface="Calibri"/>
                <a:sym typeface="Calibri"/>
              </a:rPr>
              <a:t>What variable could explain how a respondent characteristic becomes associated with digital financial activity?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822960" y="2148289"/>
            <a:ext cx="2377500" cy="822900"/>
          </a:xfrm>
          <a:prstGeom prst="roundRect">
            <a:avLst>
              <a:gd fmla="val 6667" name="adj"/>
            </a:avLst>
          </a:prstGeom>
          <a:solidFill>
            <a:srgbClr val="D9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822960" y="2148289"/>
            <a:ext cx="2377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F3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A3F3C"/>
                </a:solidFill>
                <a:latin typeface="Calibri"/>
                <a:ea typeface="Calibri"/>
                <a:cs typeface="Calibri"/>
                <a:sym typeface="Calibri"/>
              </a:rPr>
              <a:t>Education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4892040" y="2148289"/>
            <a:ext cx="2743200" cy="822900"/>
          </a:xfrm>
          <a:prstGeom prst="roundRect">
            <a:avLst>
              <a:gd fmla="val 6667" name="adj"/>
            </a:avLst>
          </a:prstGeom>
          <a:solidFill>
            <a:srgbClr val="D9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4892040" y="2148289"/>
            <a:ext cx="2743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F3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A3F3C"/>
                </a:solidFill>
                <a:latin typeface="Calibri"/>
                <a:ea typeface="Calibri"/>
                <a:cs typeface="Calibri"/>
                <a:sym typeface="Calibri"/>
              </a:rPr>
              <a:t>Formal Account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F3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A3F3C"/>
                </a:solidFill>
                <a:latin typeface="Calibri"/>
                <a:ea typeface="Calibri"/>
                <a:cs typeface="Calibri"/>
                <a:sym typeface="Calibri"/>
              </a:rPr>
              <a:t>Engagement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9235440" y="2148289"/>
            <a:ext cx="2377500" cy="822900"/>
          </a:xfrm>
          <a:prstGeom prst="roundRect">
            <a:avLst>
              <a:gd fmla="val 6667" name="adj"/>
            </a:avLst>
          </a:prstGeom>
          <a:solidFill>
            <a:srgbClr val="D9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9235440" y="2148289"/>
            <a:ext cx="2377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F3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A3F3C"/>
                </a:solidFill>
                <a:latin typeface="Calibri"/>
                <a:ea typeface="Calibri"/>
                <a:cs typeface="Calibri"/>
                <a:sym typeface="Calibri"/>
              </a:rPr>
              <a:t>Digital Financial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F3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A3F3C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12"/>
          <p:cNvCxnSpPr/>
          <p:nvPr/>
        </p:nvCxnSpPr>
        <p:spPr>
          <a:xfrm>
            <a:off x="3200400" y="2559769"/>
            <a:ext cx="16917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9" name="Google Shape;209;p12"/>
          <p:cNvSpPr/>
          <p:nvPr/>
        </p:nvSpPr>
        <p:spPr>
          <a:xfrm>
            <a:off x="3167349" y="2219899"/>
            <a:ext cx="169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9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12"/>
          <p:cNvCxnSpPr/>
          <p:nvPr/>
        </p:nvCxnSpPr>
        <p:spPr>
          <a:xfrm>
            <a:off x="7635240" y="2559769"/>
            <a:ext cx="16002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" name="Google Shape;211;p12"/>
          <p:cNvSpPr/>
          <p:nvPr/>
        </p:nvSpPr>
        <p:spPr>
          <a:xfrm>
            <a:off x="7635240" y="2203374"/>
            <a:ext cx="160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9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12"/>
          <p:cNvCxnSpPr>
            <a:stCxn id="203" idx="2"/>
            <a:endCxn id="207" idx="2"/>
          </p:cNvCxnSpPr>
          <p:nvPr/>
        </p:nvCxnSpPr>
        <p:spPr>
          <a:xfrm flipH="1" rot="-5400000">
            <a:off x="6217710" y="-1234811"/>
            <a:ext cx="600" cy="8412600"/>
          </a:xfrm>
          <a:prstGeom prst="bentConnector3">
            <a:avLst>
              <a:gd fmla="val 39687500" name="adj1"/>
            </a:avLst>
          </a:prstGeom>
          <a:noFill/>
          <a:ln cap="flat" cmpd="sng" w="19050">
            <a:solidFill>
              <a:srgbClr val="E8E1D3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13" name="Google Shape;213;p12"/>
          <p:cNvSpPr/>
          <p:nvPr/>
        </p:nvSpPr>
        <p:spPr>
          <a:xfrm>
            <a:off x="1851668" y="3360423"/>
            <a:ext cx="882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1D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E1D3"/>
                </a:solidFill>
                <a:latin typeface="Calibri"/>
                <a:ea typeface="Calibri"/>
                <a:cs typeface="Calibri"/>
                <a:sym typeface="Calibri"/>
              </a:rPr>
              <a:t>direct effect: Education → Digital Financial Activity (with mediator included)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4925750" y="3511296"/>
            <a:ext cx="2584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effect = direct + indirect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5290306" y="1488500"/>
            <a:ext cx="1946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B3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Indirect effect = a × 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102450" y="4693200"/>
            <a:ext cx="11981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700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f the </a:t>
            </a:r>
            <a:r>
              <a:rPr b="1" lang="en-US" sz="1700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indirect effect</a:t>
            </a:r>
            <a:r>
              <a:rPr lang="en-US" sz="1700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 (a×b) is </a:t>
            </a:r>
            <a:r>
              <a:rPr b="1" lang="en-US" sz="2500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large</a:t>
            </a:r>
            <a:r>
              <a:rPr lang="en-US" sz="1700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 relative to the total = "education matters mainly </a:t>
            </a:r>
            <a:r>
              <a:rPr i="1" lang="en-US" sz="1700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because</a:t>
            </a:r>
            <a:r>
              <a:rPr lang="en-US" sz="1700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 it gets people into the formal financial system; if you skip that step, the effect on digital activity mostly vanishes." </a:t>
            </a:r>
            <a:endParaRPr sz="1700">
              <a:solidFill>
                <a:srgbClr val="D99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If the </a:t>
            </a:r>
            <a:r>
              <a:rPr b="1" lang="en-US" sz="1700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direct effect</a:t>
            </a:r>
            <a:r>
              <a:rPr lang="en-US" sz="1700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 stays </a:t>
            </a:r>
            <a:r>
              <a:rPr lang="en-US" sz="2100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large</a:t>
            </a:r>
            <a:r>
              <a:rPr lang="en-US" sz="1700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 even </a:t>
            </a:r>
            <a:r>
              <a:rPr b="1" lang="en-US" sz="1700" u="sng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r>
              <a:rPr lang="en-US" sz="1700">
                <a:solidFill>
                  <a:srgbClr val="D99B3C"/>
                </a:solidFill>
                <a:latin typeface="Calibri"/>
                <a:ea typeface="Calibri"/>
                <a:cs typeface="Calibri"/>
                <a:sym typeface="Calibri"/>
              </a:rPr>
              <a:t> including the mediator, formal engagement isn't the main explanation — something else is doing the work.</a:t>
            </a:r>
            <a:endParaRPr sz="2000">
              <a:solidFill>
                <a:srgbClr val="D99B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